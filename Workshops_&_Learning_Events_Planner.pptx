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6"/>
  </p:notesMasterIdLst>
  <p:sldIdLst>
    <p:sldId id="256" r:id="rId2"/>
    <p:sldId id="262" r:id="rId3"/>
    <p:sldId id="277" r:id="rId4"/>
    <p:sldId id="284" r:id="rId5"/>
    <p:sldId id="275" r:id="rId6"/>
    <p:sldId id="283" r:id="rId7"/>
    <p:sldId id="321" r:id="rId8"/>
    <p:sldId id="287" r:id="rId9"/>
    <p:sldId id="322" r:id="rId10"/>
    <p:sldId id="285" r:id="rId11"/>
    <p:sldId id="323" r:id="rId12"/>
    <p:sldId id="330" r:id="rId13"/>
    <p:sldId id="333" r:id="rId14"/>
    <p:sldId id="334" r:id="rId15"/>
    <p:sldId id="335" r:id="rId16"/>
    <p:sldId id="336" r:id="rId17"/>
    <p:sldId id="337" r:id="rId18"/>
    <p:sldId id="338" r:id="rId19"/>
    <p:sldId id="340" r:id="rId20"/>
    <p:sldId id="311" r:id="rId21"/>
    <p:sldId id="318" r:id="rId22"/>
    <p:sldId id="319" r:id="rId23"/>
    <p:sldId id="320" r:id="rId24"/>
    <p:sldId id="279" r:id="rId25"/>
  </p:sldIdLst>
  <p:sldSz cx="18288000" cy="10287000"/>
  <p:notesSz cx="6858000" cy="9144000"/>
  <p:embeddedFontLst>
    <p:embeddedFont>
      <p:font typeface="Malgun Gothic" panose="020B0503020000020004" pitchFamily="34" charset="-127"/>
      <p:regular r:id="rId27"/>
      <p:bold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3E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50EC2B-4D7E-4477-98E2-6AE93171336A}" v="686" dt="2026-08-23T19:44:03.9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50CFBD-2DEB-440F-9191-7BCF2F1F3C7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4245B8-2127-40CB-94F2-866A59635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1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0" name="Google Shape;3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8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37000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03568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>
          <a:extLst>
            <a:ext uri="{FF2B5EF4-FFF2-40B4-BE49-F238E27FC236}">
              <a16:creationId xmlns:a16="http://schemas.microsoft.com/office/drawing/2014/main" id="{C1958E53-014C-2996-C465-D950EAB2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>
            <a:extLst>
              <a:ext uri="{FF2B5EF4-FFF2-40B4-BE49-F238E27FC236}">
                <a16:creationId xmlns:a16="http://schemas.microsoft.com/office/drawing/2014/main" id="{17ABE666-9A8D-E695-BDE3-98E05964FB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>
            <a:extLst>
              <a:ext uri="{FF2B5EF4-FFF2-40B4-BE49-F238E27FC236}">
                <a16:creationId xmlns:a16="http://schemas.microsoft.com/office/drawing/2014/main" id="{C94E4694-C835-03C4-324A-BE6ABB83CD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>
            <a:extLst>
              <a:ext uri="{FF2B5EF4-FFF2-40B4-BE49-F238E27FC236}">
                <a16:creationId xmlns:a16="http://schemas.microsoft.com/office/drawing/2014/main" id="{DCFD3807-9417-AD5C-D76A-01E93F9B67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78445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8279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>
          <a:extLst>
            <a:ext uri="{FF2B5EF4-FFF2-40B4-BE49-F238E27FC236}">
              <a16:creationId xmlns:a16="http://schemas.microsoft.com/office/drawing/2014/main" id="{54412D7C-BD6D-BE58-A850-F49D25372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>
            <a:extLst>
              <a:ext uri="{FF2B5EF4-FFF2-40B4-BE49-F238E27FC236}">
                <a16:creationId xmlns:a16="http://schemas.microsoft.com/office/drawing/2014/main" id="{66F5A32F-E385-4C6A-3FA1-09D198DF3A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>
            <a:extLst>
              <a:ext uri="{FF2B5EF4-FFF2-40B4-BE49-F238E27FC236}">
                <a16:creationId xmlns:a16="http://schemas.microsoft.com/office/drawing/2014/main" id="{ED107D73-4DDB-0720-EEE5-DBFE2B83A7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>
            <a:extLst>
              <a:ext uri="{FF2B5EF4-FFF2-40B4-BE49-F238E27FC236}">
                <a16:creationId xmlns:a16="http://schemas.microsoft.com/office/drawing/2014/main" id="{23CB94C3-5A06-3FD1-B395-5339516876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128328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46" name="Google Shape;4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84759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>
          <a:extLst>
            <a:ext uri="{FF2B5EF4-FFF2-40B4-BE49-F238E27FC236}">
              <a16:creationId xmlns:a16="http://schemas.microsoft.com/office/drawing/2014/main" id="{D324E376-B20F-2C58-26F2-49B7DA526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>
            <a:extLst>
              <a:ext uri="{FF2B5EF4-FFF2-40B4-BE49-F238E27FC236}">
                <a16:creationId xmlns:a16="http://schemas.microsoft.com/office/drawing/2014/main" id="{D9D74454-6A82-2534-C022-B259B6D9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2:notes">
            <a:extLst>
              <a:ext uri="{FF2B5EF4-FFF2-40B4-BE49-F238E27FC236}">
                <a16:creationId xmlns:a16="http://schemas.microsoft.com/office/drawing/2014/main" id="{679A3E2F-6EB6-AB6F-2D61-85DCF89CE4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Note:</a:t>
            </a:r>
            <a:endParaRPr/>
          </a:p>
        </p:txBody>
      </p:sp>
      <p:sp>
        <p:nvSpPr>
          <p:cNvPr id="37" name="Google Shape;37;p2:notes">
            <a:extLst>
              <a:ext uri="{FF2B5EF4-FFF2-40B4-BE49-F238E27FC236}">
                <a16:creationId xmlns:a16="http://schemas.microsoft.com/office/drawing/2014/main" id="{2B513D24-C216-295B-4024-13034C7EBE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16474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7b6163dee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7b6163dee3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g27b6163dee3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m Cover">
  <p:cSld name="Interim Cover">
    <p:bg>
      <p:bgPr>
        <a:solidFill>
          <a:srgbClr val="193EB0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643132" y="370513"/>
            <a:ext cx="2952967" cy="786137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44"/>
          <p:cNvSpPr/>
          <p:nvPr/>
        </p:nvSpPr>
        <p:spPr>
          <a:xfrm>
            <a:off x="915806" y="605937"/>
            <a:ext cx="2513353" cy="315288"/>
          </a:xfrm>
          <a:custGeom>
            <a:avLst/>
            <a:gdLst/>
            <a:ahLst/>
            <a:cxnLst/>
            <a:rect l="l" t="t" r="r" b="b"/>
            <a:pathLst>
              <a:path w="2179" h="334" extrusionOk="0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27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4449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6"/>
          <p:cNvSpPr/>
          <p:nvPr/>
        </p:nvSpPr>
        <p:spPr>
          <a:xfrm>
            <a:off x="1" y="0"/>
            <a:ext cx="18288000" cy="3105807"/>
          </a:xfrm>
          <a:prstGeom prst="rect">
            <a:avLst/>
          </a:prstGeom>
          <a:solidFill>
            <a:srgbClr val="193EB0"/>
          </a:solidFill>
          <a:ln>
            <a:noFill/>
          </a:ln>
        </p:spPr>
        <p:txBody>
          <a:bodyPr spcFirstLastPara="1" wrap="square" lIns="137138" tIns="68550" rIns="137138" bIns="68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6"/>
          <p:cNvSpPr/>
          <p:nvPr/>
        </p:nvSpPr>
        <p:spPr>
          <a:xfrm>
            <a:off x="1057441" y="9533057"/>
            <a:ext cx="5334857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704519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ront Cover">
  <p:cSld name="Front Cover">
    <p:bg>
      <p:bgPr>
        <a:solidFill>
          <a:srgbClr val="193EB0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5"/>
          <p:cNvSpPr/>
          <p:nvPr/>
        </p:nvSpPr>
        <p:spPr>
          <a:xfrm>
            <a:off x="1057441" y="9533057"/>
            <a:ext cx="5334857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Samsung Innovation Campus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3604307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 Cover">
  <p:cSld name="Back Cover">
    <p:bg>
      <p:bgPr>
        <a:solidFill>
          <a:srgbClr val="193EB0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8"/>
          <p:cNvSpPr/>
          <p:nvPr/>
        </p:nvSpPr>
        <p:spPr>
          <a:xfrm>
            <a:off x="1095078" y="8446562"/>
            <a:ext cx="17192922" cy="1102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ⓒ2020 SAMSUNG. All rights reserved.</a:t>
            </a:r>
            <a:endParaRPr sz="2700"/>
          </a:p>
          <a:p>
            <a:pPr marL="0" marR="0" lvl="0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Samsung Electronics Corporate Citizenship Office holds the copyright of book.</a:t>
            </a:r>
            <a:endParaRPr sz="2700"/>
          </a:p>
          <a:p>
            <a:pPr marL="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This book is a literary property protected by copyright law so reprint and reproduction without permission are prohibited. </a:t>
            </a:r>
            <a:endParaRPr sz="27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 use this book other than the curriculum of Samsung innovation Campus or to use the entire or part of this book, you must receive written consent from copyright holder.</a:t>
            </a:r>
            <a:endParaRPr sz="2700"/>
          </a:p>
        </p:txBody>
      </p:sp>
      <p:sp>
        <p:nvSpPr>
          <p:cNvPr id="24" name="Google Shape;24;p48"/>
          <p:cNvSpPr/>
          <p:nvPr/>
        </p:nvSpPr>
        <p:spPr>
          <a:xfrm>
            <a:off x="14896875" y="605937"/>
            <a:ext cx="2513353" cy="315288"/>
          </a:xfrm>
          <a:custGeom>
            <a:avLst/>
            <a:gdLst/>
            <a:ahLst/>
            <a:cxnLst/>
            <a:rect l="l" t="t" r="r" b="b"/>
            <a:pathLst>
              <a:path w="2179" h="334" extrusionOk="0">
                <a:moveTo>
                  <a:pt x="83" y="91"/>
                </a:moveTo>
                <a:cubicBezTo>
                  <a:pt x="81" y="84"/>
                  <a:pt x="82" y="78"/>
                  <a:pt x="82" y="74"/>
                </a:cubicBezTo>
                <a:cubicBezTo>
                  <a:pt x="84" y="64"/>
                  <a:pt x="91" y="53"/>
                  <a:pt x="111" y="53"/>
                </a:cubicBezTo>
                <a:cubicBezTo>
                  <a:pt x="129" y="53"/>
                  <a:pt x="140" y="65"/>
                  <a:pt x="140" y="82"/>
                </a:cubicBezTo>
                <a:cubicBezTo>
                  <a:pt x="140" y="101"/>
                  <a:pt x="140" y="101"/>
                  <a:pt x="140" y="101"/>
                </a:cubicBezTo>
                <a:cubicBezTo>
                  <a:pt x="218" y="101"/>
                  <a:pt x="218" y="101"/>
                  <a:pt x="218" y="101"/>
                </a:cubicBezTo>
                <a:cubicBezTo>
                  <a:pt x="218" y="79"/>
                  <a:pt x="218" y="79"/>
                  <a:pt x="218" y="79"/>
                </a:cubicBezTo>
                <a:cubicBezTo>
                  <a:pt x="218" y="11"/>
                  <a:pt x="156" y="0"/>
                  <a:pt x="112" y="0"/>
                </a:cubicBezTo>
                <a:cubicBezTo>
                  <a:pt x="57" y="0"/>
                  <a:pt x="12" y="19"/>
                  <a:pt x="4" y="70"/>
                </a:cubicBezTo>
                <a:cubicBezTo>
                  <a:pt x="1" y="84"/>
                  <a:pt x="1" y="96"/>
                  <a:pt x="4" y="112"/>
                </a:cubicBezTo>
                <a:cubicBezTo>
                  <a:pt x="18" y="175"/>
                  <a:pt x="128" y="194"/>
                  <a:pt x="145" y="234"/>
                </a:cubicBezTo>
                <a:cubicBezTo>
                  <a:pt x="148" y="241"/>
                  <a:pt x="147" y="251"/>
                  <a:pt x="145" y="257"/>
                </a:cubicBezTo>
                <a:cubicBezTo>
                  <a:pt x="143" y="267"/>
                  <a:pt x="136" y="278"/>
                  <a:pt x="115" y="278"/>
                </a:cubicBezTo>
                <a:cubicBezTo>
                  <a:pt x="95" y="278"/>
                  <a:pt x="84" y="267"/>
                  <a:pt x="84" y="250"/>
                </a:cubicBezTo>
                <a:cubicBezTo>
                  <a:pt x="83" y="220"/>
                  <a:pt x="83" y="220"/>
                  <a:pt x="83" y="220"/>
                </a:cubicBezTo>
                <a:cubicBezTo>
                  <a:pt x="0" y="220"/>
                  <a:pt x="0" y="220"/>
                  <a:pt x="0" y="220"/>
                </a:cubicBezTo>
                <a:cubicBezTo>
                  <a:pt x="0" y="244"/>
                  <a:pt x="0" y="244"/>
                  <a:pt x="0" y="244"/>
                </a:cubicBezTo>
                <a:cubicBezTo>
                  <a:pt x="0" y="313"/>
                  <a:pt x="55" y="334"/>
                  <a:pt x="113" y="334"/>
                </a:cubicBezTo>
                <a:cubicBezTo>
                  <a:pt x="169" y="334"/>
                  <a:pt x="216" y="315"/>
                  <a:pt x="223" y="263"/>
                </a:cubicBezTo>
                <a:cubicBezTo>
                  <a:pt x="227" y="236"/>
                  <a:pt x="224" y="218"/>
                  <a:pt x="223" y="212"/>
                </a:cubicBezTo>
                <a:cubicBezTo>
                  <a:pt x="210" y="146"/>
                  <a:pt x="92" y="127"/>
                  <a:pt x="83" y="91"/>
                </a:cubicBezTo>
                <a:moveTo>
                  <a:pt x="1096" y="91"/>
                </a:moveTo>
                <a:cubicBezTo>
                  <a:pt x="1094" y="85"/>
                  <a:pt x="1095" y="79"/>
                  <a:pt x="1096" y="75"/>
                </a:cubicBezTo>
                <a:cubicBezTo>
                  <a:pt x="1098" y="65"/>
                  <a:pt x="1104" y="54"/>
                  <a:pt x="1124" y="54"/>
                </a:cubicBezTo>
                <a:cubicBezTo>
                  <a:pt x="1142" y="54"/>
                  <a:pt x="1152" y="66"/>
                  <a:pt x="1152" y="82"/>
                </a:cubicBezTo>
                <a:cubicBezTo>
                  <a:pt x="1152" y="102"/>
                  <a:pt x="1152" y="102"/>
                  <a:pt x="1152" y="102"/>
                </a:cubicBezTo>
                <a:cubicBezTo>
                  <a:pt x="1229" y="102"/>
                  <a:pt x="1229" y="102"/>
                  <a:pt x="1229" y="102"/>
                </a:cubicBezTo>
                <a:cubicBezTo>
                  <a:pt x="1229" y="80"/>
                  <a:pt x="1229" y="80"/>
                  <a:pt x="1229" y="80"/>
                </a:cubicBezTo>
                <a:cubicBezTo>
                  <a:pt x="1229" y="13"/>
                  <a:pt x="1169" y="2"/>
                  <a:pt x="1125" y="2"/>
                </a:cubicBezTo>
                <a:cubicBezTo>
                  <a:pt x="1070" y="2"/>
                  <a:pt x="1026" y="20"/>
                  <a:pt x="1017" y="71"/>
                </a:cubicBezTo>
                <a:cubicBezTo>
                  <a:pt x="1015" y="84"/>
                  <a:pt x="1015" y="97"/>
                  <a:pt x="1018" y="112"/>
                </a:cubicBezTo>
                <a:cubicBezTo>
                  <a:pt x="1032" y="175"/>
                  <a:pt x="1141" y="193"/>
                  <a:pt x="1157" y="233"/>
                </a:cubicBezTo>
                <a:cubicBezTo>
                  <a:pt x="1160" y="241"/>
                  <a:pt x="1159" y="250"/>
                  <a:pt x="1158" y="256"/>
                </a:cubicBezTo>
                <a:cubicBezTo>
                  <a:pt x="1155" y="267"/>
                  <a:pt x="1148" y="277"/>
                  <a:pt x="1128" y="277"/>
                </a:cubicBezTo>
                <a:cubicBezTo>
                  <a:pt x="1108" y="277"/>
                  <a:pt x="1097" y="266"/>
                  <a:pt x="1097" y="249"/>
                </a:cubicBezTo>
                <a:cubicBezTo>
                  <a:pt x="1097" y="219"/>
                  <a:pt x="1097" y="219"/>
                  <a:pt x="1097" y="219"/>
                </a:cubicBezTo>
                <a:cubicBezTo>
                  <a:pt x="1014" y="219"/>
                  <a:pt x="1014" y="219"/>
                  <a:pt x="1014" y="219"/>
                </a:cubicBezTo>
                <a:cubicBezTo>
                  <a:pt x="1014" y="243"/>
                  <a:pt x="1014" y="243"/>
                  <a:pt x="1014" y="243"/>
                </a:cubicBezTo>
                <a:cubicBezTo>
                  <a:pt x="1014" y="312"/>
                  <a:pt x="1068" y="332"/>
                  <a:pt x="1126" y="332"/>
                </a:cubicBezTo>
                <a:cubicBezTo>
                  <a:pt x="1182" y="332"/>
                  <a:pt x="1228" y="313"/>
                  <a:pt x="1235" y="262"/>
                </a:cubicBezTo>
                <a:cubicBezTo>
                  <a:pt x="1238" y="235"/>
                  <a:pt x="1236" y="218"/>
                  <a:pt x="1234" y="211"/>
                </a:cubicBezTo>
                <a:cubicBezTo>
                  <a:pt x="1221" y="147"/>
                  <a:pt x="1105" y="127"/>
                  <a:pt x="1096" y="91"/>
                </a:cubicBezTo>
                <a:moveTo>
                  <a:pt x="1803" y="261"/>
                </a:moveTo>
                <a:cubicBezTo>
                  <a:pt x="1730" y="10"/>
                  <a:pt x="1730" y="10"/>
                  <a:pt x="1730" y="10"/>
                </a:cubicBezTo>
                <a:cubicBezTo>
                  <a:pt x="1614" y="10"/>
                  <a:pt x="1614" y="10"/>
                  <a:pt x="1614" y="10"/>
                </a:cubicBezTo>
                <a:cubicBezTo>
                  <a:pt x="1614" y="319"/>
                  <a:pt x="1614" y="319"/>
                  <a:pt x="1614" y="319"/>
                </a:cubicBezTo>
                <a:cubicBezTo>
                  <a:pt x="1691" y="319"/>
                  <a:pt x="1691" y="319"/>
                  <a:pt x="1691" y="319"/>
                </a:cubicBezTo>
                <a:cubicBezTo>
                  <a:pt x="1686" y="60"/>
                  <a:pt x="1686" y="60"/>
                  <a:pt x="1686" y="60"/>
                </a:cubicBezTo>
                <a:cubicBezTo>
                  <a:pt x="1765" y="319"/>
                  <a:pt x="1765" y="319"/>
                  <a:pt x="1765" y="319"/>
                </a:cubicBezTo>
                <a:cubicBezTo>
                  <a:pt x="1876" y="319"/>
                  <a:pt x="1876" y="319"/>
                  <a:pt x="1876" y="319"/>
                </a:cubicBezTo>
                <a:cubicBezTo>
                  <a:pt x="1876" y="10"/>
                  <a:pt x="1876" y="10"/>
                  <a:pt x="1876" y="10"/>
                </a:cubicBezTo>
                <a:cubicBezTo>
                  <a:pt x="1799" y="10"/>
                  <a:pt x="1799" y="10"/>
                  <a:pt x="1799" y="10"/>
                </a:cubicBezTo>
                <a:lnTo>
                  <a:pt x="1803" y="261"/>
                </a:lnTo>
                <a:close/>
                <a:moveTo>
                  <a:pt x="333" y="10"/>
                </a:moveTo>
                <a:cubicBezTo>
                  <a:pt x="276" y="322"/>
                  <a:pt x="276" y="322"/>
                  <a:pt x="276" y="322"/>
                </a:cubicBezTo>
                <a:cubicBezTo>
                  <a:pt x="360" y="322"/>
                  <a:pt x="360" y="322"/>
                  <a:pt x="360" y="322"/>
                </a:cubicBezTo>
                <a:cubicBezTo>
                  <a:pt x="403" y="33"/>
                  <a:pt x="403" y="33"/>
                  <a:pt x="403" y="33"/>
                </a:cubicBezTo>
                <a:cubicBezTo>
                  <a:pt x="446" y="322"/>
                  <a:pt x="446" y="322"/>
                  <a:pt x="446" y="322"/>
                </a:cubicBezTo>
                <a:cubicBezTo>
                  <a:pt x="529" y="322"/>
                  <a:pt x="529" y="322"/>
                  <a:pt x="529" y="322"/>
                </a:cubicBezTo>
                <a:cubicBezTo>
                  <a:pt x="472" y="10"/>
                  <a:pt x="472" y="10"/>
                  <a:pt x="472" y="10"/>
                </a:cubicBezTo>
                <a:lnTo>
                  <a:pt x="333" y="10"/>
                </a:lnTo>
                <a:close/>
                <a:moveTo>
                  <a:pt x="804" y="10"/>
                </a:moveTo>
                <a:cubicBezTo>
                  <a:pt x="765" y="254"/>
                  <a:pt x="765" y="254"/>
                  <a:pt x="765" y="254"/>
                </a:cubicBezTo>
                <a:cubicBezTo>
                  <a:pt x="725" y="10"/>
                  <a:pt x="725" y="10"/>
                  <a:pt x="725" y="10"/>
                </a:cubicBezTo>
                <a:cubicBezTo>
                  <a:pt x="598" y="10"/>
                  <a:pt x="598" y="10"/>
                  <a:pt x="598" y="10"/>
                </a:cubicBezTo>
                <a:cubicBezTo>
                  <a:pt x="592" y="322"/>
                  <a:pt x="592" y="322"/>
                  <a:pt x="592" y="322"/>
                </a:cubicBezTo>
                <a:cubicBezTo>
                  <a:pt x="669" y="322"/>
                  <a:pt x="669" y="322"/>
                  <a:pt x="669" y="322"/>
                </a:cubicBezTo>
                <a:cubicBezTo>
                  <a:pt x="671" y="33"/>
                  <a:pt x="671" y="33"/>
                  <a:pt x="671" y="33"/>
                </a:cubicBezTo>
                <a:cubicBezTo>
                  <a:pt x="725" y="322"/>
                  <a:pt x="725" y="322"/>
                  <a:pt x="725" y="322"/>
                </a:cubicBezTo>
                <a:cubicBezTo>
                  <a:pt x="804" y="322"/>
                  <a:pt x="804" y="322"/>
                  <a:pt x="804" y="322"/>
                </a:cubicBezTo>
                <a:cubicBezTo>
                  <a:pt x="858" y="33"/>
                  <a:pt x="858" y="33"/>
                  <a:pt x="858" y="33"/>
                </a:cubicBezTo>
                <a:cubicBezTo>
                  <a:pt x="860" y="322"/>
                  <a:pt x="860" y="322"/>
                  <a:pt x="860" y="322"/>
                </a:cubicBezTo>
                <a:cubicBezTo>
                  <a:pt x="938" y="322"/>
                  <a:pt x="938" y="322"/>
                  <a:pt x="938" y="322"/>
                </a:cubicBezTo>
                <a:cubicBezTo>
                  <a:pt x="931" y="10"/>
                  <a:pt x="931" y="10"/>
                  <a:pt x="931" y="10"/>
                </a:cubicBezTo>
                <a:lnTo>
                  <a:pt x="804" y="10"/>
                </a:lnTo>
                <a:close/>
                <a:moveTo>
                  <a:pt x="1528" y="10"/>
                </a:moveTo>
                <a:cubicBezTo>
                  <a:pt x="1449" y="10"/>
                  <a:pt x="1449" y="10"/>
                  <a:pt x="1449" y="10"/>
                </a:cubicBezTo>
                <a:cubicBezTo>
                  <a:pt x="1449" y="241"/>
                  <a:pt x="1449" y="241"/>
                  <a:pt x="1449" y="241"/>
                </a:cubicBezTo>
                <a:cubicBezTo>
                  <a:pt x="1449" y="245"/>
                  <a:pt x="1449" y="249"/>
                  <a:pt x="1448" y="253"/>
                </a:cubicBezTo>
                <a:cubicBezTo>
                  <a:pt x="1447" y="260"/>
                  <a:pt x="1440" y="275"/>
                  <a:pt x="1418" y="275"/>
                </a:cubicBezTo>
                <a:cubicBezTo>
                  <a:pt x="1397" y="275"/>
                  <a:pt x="1390" y="260"/>
                  <a:pt x="1389" y="253"/>
                </a:cubicBezTo>
                <a:cubicBezTo>
                  <a:pt x="1388" y="249"/>
                  <a:pt x="1388" y="245"/>
                  <a:pt x="1388" y="241"/>
                </a:cubicBezTo>
                <a:cubicBezTo>
                  <a:pt x="1388" y="10"/>
                  <a:pt x="1388" y="10"/>
                  <a:pt x="1388" y="10"/>
                </a:cubicBezTo>
                <a:cubicBezTo>
                  <a:pt x="1309" y="10"/>
                  <a:pt x="1309" y="10"/>
                  <a:pt x="1309" y="10"/>
                </a:cubicBezTo>
                <a:cubicBezTo>
                  <a:pt x="1309" y="234"/>
                  <a:pt x="1309" y="234"/>
                  <a:pt x="1309" y="234"/>
                </a:cubicBezTo>
                <a:cubicBezTo>
                  <a:pt x="1309" y="239"/>
                  <a:pt x="1309" y="251"/>
                  <a:pt x="1310" y="254"/>
                </a:cubicBezTo>
                <a:cubicBezTo>
                  <a:pt x="1315" y="312"/>
                  <a:pt x="1361" y="331"/>
                  <a:pt x="1418" y="331"/>
                </a:cubicBezTo>
                <a:cubicBezTo>
                  <a:pt x="1476" y="331"/>
                  <a:pt x="1522" y="312"/>
                  <a:pt x="1527" y="254"/>
                </a:cubicBezTo>
                <a:cubicBezTo>
                  <a:pt x="1528" y="251"/>
                  <a:pt x="1528" y="239"/>
                  <a:pt x="1528" y="234"/>
                </a:cubicBezTo>
                <a:lnTo>
                  <a:pt x="1528" y="10"/>
                </a:lnTo>
                <a:close/>
                <a:moveTo>
                  <a:pt x="2069" y="147"/>
                </a:moveTo>
                <a:cubicBezTo>
                  <a:pt x="2069" y="192"/>
                  <a:pt x="2069" y="192"/>
                  <a:pt x="2069" y="192"/>
                </a:cubicBezTo>
                <a:cubicBezTo>
                  <a:pt x="2101" y="192"/>
                  <a:pt x="2101" y="192"/>
                  <a:pt x="2101" y="192"/>
                </a:cubicBezTo>
                <a:cubicBezTo>
                  <a:pt x="2101" y="237"/>
                  <a:pt x="2101" y="237"/>
                  <a:pt x="2101" y="237"/>
                </a:cubicBezTo>
                <a:cubicBezTo>
                  <a:pt x="2101" y="241"/>
                  <a:pt x="2101" y="246"/>
                  <a:pt x="2100" y="249"/>
                </a:cubicBezTo>
                <a:cubicBezTo>
                  <a:pt x="2099" y="258"/>
                  <a:pt x="2091" y="272"/>
                  <a:pt x="2068" y="272"/>
                </a:cubicBezTo>
                <a:cubicBezTo>
                  <a:pt x="2045" y="272"/>
                  <a:pt x="2038" y="258"/>
                  <a:pt x="2036" y="249"/>
                </a:cubicBezTo>
                <a:cubicBezTo>
                  <a:pt x="2036" y="246"/>
                  <a:pt x="2035" y="241"/>
                  <a:pt x="2035" y="237"/>
                </a:cubicBezTo>
                <a:cubicBezTo>
                  <a:pt x="2035" y="95"/>
                  <a:pt x="2035" y="95"/>
                  <a:pt x="2035" y="95"/>
                </a:cubicBezTo>
                <a:cubicBezTo>
                  <a:pt x="2035" y="90"/>
                  <a:pt x="2036" y="85"/>
                  <a:pt x="2037" y="80"/>
                </a:cubicBezTo>
                <a:cubicBezTo>
                  <a:pt x="2038" y="73"/>
                  <a:pt x="2045" y="58"/>
                  <a:pt x="2068" y="58"/>
                </a:cubicBezTo>
                <a:cubicBezTo>
                  <a:pt x="2092" y="58"/>
                  <a:pt x="2098" y="74"/>
                  <a:pt x="2099" y="80"/>
                </a:cubicBezTo>
                <a:cubicBezTo>
                  <a:pt x="2100" y="85"/>
                  <a:pt x="2100" y="92"/>
                  <a:pt x="2100" y="92"/>
                </a:cubicBezTo>
                <a:cubicBezTo>
                  <a:pt x="2100" y="110"/>
                  <a:pt x="2100" y="110"/>
                  <a:pt x="2100" y="110"/>
                </a:cubicBezTo>
                <a:cubicBezTo>
                  <a:pt x="2178" y="110"/>
                  <a:pt x="2178" y="110"/>
                  <a:pt x="2178" y="110"/>
                </a:cubicBezTo>
                <a:cubicBezTo>
                  <a:pt x="2178" y="99"/>
                  <a:pt x="2178" y="99"/>
                  <a:pt x="2178" y="99"/>
                </a:cubicBezTo>
                <a:cubicBezTo>
                  <a:pt x="2178" y="99"/>
                  <a:pt x="2179" y="89"/>
                  <a:pt x="2178" y="79"/>
                </a:cubicBezTo>
                <a:cubicBezTo>
                  <a:pt x="2172" y="20"/>
                  <a:pt x="2124" y="2"/>
                  <a:pt x="2068" y="2"/>
                </a:cubicBezTo>
                <a:cubicBezTo>
                  <a:pt x="2013" y="2"/>
                  <a:pt x="1966" y="21"/>
                  <a:pt x="1959" y="79"/>
                </a:cubicBezTo>
                <a:cubicBezTo>
                  <a:pt x="1958" y="84"/>
                  <a:pt x="1958" y="94"/>
                  <a:pt x="1958" y="99"/>
                </a:cubicBezTo>
                <a:cubicBezTo>
                  <a:pt x="1958" y="230"/>
                  <a:pt x="1958" y="230"/>
                  <a:pt x="1958" y="230"/>
                </a:cubicBezTo>
                <a:cubicBezTo>
                  <a:pt x="1958" y="236"/>
                  <a:pt x="1958" y="241"/>
                  <a:pt x="1959" y="251"/>
                </a:cubicBezTo>
                <a:cubicBezTo>
                  <a:pt x="1964" y="308"/>
                  <a:pt x="2013" y="328"/>
                  <a:pt x="2068" y="328"/>
                </a:cubicBezTo>
                <a:cubicBezTo>
                  <a:pt x="2124" y="328"/>
                  <a:pt x="2173" y="308"/>
                  <a:pt x="2178" y="251"/>
                </a:cubicBezTo>
                <a:cubicBezTo>
                  <a:pt x="2179" y="241"/>
                  <a:pt x="2179" y="236"/>
                  <a:pt x="2179" y="230"/>
                </a:cubicBezTo>
                <a:cubicBezTo>
                  <a:pt x="2179" y="147"/>
                  <a:pt x="2179" y="147"/>
                  <a:pt x="2179" y="147"/>
                </a:cubicBezTo>
                <a:lnTo>
                  <a:pt x="2069" y="147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27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25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41182" y="3943319"/>
            <a:ext cx="6205635" cy="16532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97101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4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2521462" y="3030992"/>
            <a:ext cx="14699737" cy="1324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FFFFFF"/>
              </a:buClr>
              <a:buSzPts val="4400"/>
            </a:pPr>
            <a:r>
              <a:rPr lang="en-US" sz="51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SIC Workshops and Learning Events Planner </a:t>
            </a:r>
            <a:endParaRPr lang="en-US" sz="4200" b="1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C1D468-0F1E-42A1-32BF-F584AA2EBCB0}"/>
              </a:ext>
            </a:extLst>
          </p:cNvPr>
          <p:cNvSpPr txBox="1"/>
          <p:nvPr/>
        </p:nvSpPr>
        <p:spPr>
          <a:xfrm>
            <a:off x="2521542" y="4363152"/>
            <a:ext cx="3879258" cy="30162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571500" indent="-571500">
              <a:buFont typeface="Arial"/>
              <a:buChar char="•"/>
            </a:pPr>
            <a:r>
              <a:rPr lang="en-US" sz="3600" dirty="0">
                <a:solidFill>
                  <a:srgbClr val="00B3E3"/>
                </a:solidFill>
                <a:latin typeface="Calibri"/>
                <a:ea typeface="Calibri"/>
                <a:cs typeface="Calibri"/>
              </a:rPr>
              <a:t>SIC 8</a:t>
            </a:r>
            <a:endParaRPr lang="en-US" sz="36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indent="-457200">
              <a:buFont typeface="Arial"/>
              <a:buChar char="•"/>
            </a:pPr>
            <a:endParaRPr lang="en-US" sz="3200" dirty="0">
              <a:solidFill>
                <a:srgbClr val="00B3E3"/>
              </a:solidFill>
              <a:latin typeface="Arial"/>
              <a:ea typeface="Calibri"/>
              <a:cs typeface="Arial"/>
            </a:endParaRPr>
          </a:p>
          <a:p>
            <a:pPr marL="457200" indent="-457200">
              <a:buFont typeface="Arial"/>
              <a:buChar char="•"/>
            </a:pPr>
            <a:r>
              <a:rPr lang="en-US" sz="3200" dirty="0">
                <a:solidFill>
                  <a:srgbClr val="00B3E3"/>
                </a:solidFill>
                <a:latin typeface="Arial"/>
                <a:ea typeface="Calibri"/>
                <a:cs typeface="Arial"/>
              </a:rPr>
              <a:t>CP - 801 Course</a:t>
            </a:r>
            <a:endParaRPr lang="en-US" sz="3200" dirty="0">
              <a:solidFill>
                <a:srgbClr val="000000"/>
              </a:solidFill>
              <a:latin typeface="Arial"/>
              <a:ea typeface="Calibri"/>
              <a:cs typeface="Arial"/>
            </a:endParaRPr>
          </a:p>
          <a:p>
            <a:pPr marL="571500" indent="-571500">
              <a:buFont typeface="Arial"/>
              <a:buChar char="•"/>
            </a:pPr>
            <a:endParaRPr lang="en-US" sz="3600" dirty="0">
              <a:solidFill>
                <a:srgbClr val="00B3E3"/>
              </a:solidFill>
              <a:ea typeface="Calibri"/>
              <a:cs typeface="Calibri"/>
            </a:endParaRPr>
          </a:p>
          <a:p>
            <a:pPr marL="571500" indent="-571500">
              <a:buFont typeface="Arial"/>
              <a:buChar char="•"/>
            </a:pPr>
            <a:r>
              <a:rPr lang="en-US" sz="3600" dirty="0">
                <a:solidFill>
                  <a:srgbClr val="00B3E3"/>
                </a:solidFill>
                <a:ea typeface="Calibri"/>
                <a:cs typeface="Calibri"/>
              </a:rPr>
              <a:t>Team 12</a:t>
            </a:r>
            <a:endParaRPr lang="en-US" sz="3600" dirty="0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/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id="{E2B5B782-5B12-44EC-DE2B-CFD7C0363A0A}"/>
              </a:ext>
            </a:extLst>
          </p:cNvPr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id="{45390769-5DBD-5D20-6B29-C7D403F2253D}"/>
              </a:ext>
            </a:extLst>
          </p:cNvPr>
          <p:cNvGrpSpPr/>
          <p:nvPr/>
        </p:nvGrpSpPr>
        <p:grpSpPr>
          <a:xfrm>
            <a:off x="2819400" y="4864902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id="{2FD0EABC-52F2-4414-C7E0-16AF5C8B4532}"/>
              </a:ext>
            </a:extLst>
          </p:cNvPr>
          <p:cNvGrpSpPr/>
          <p:nvPr/>
        </p:nvGrpSpPr>
        <p:grpSpPr>
          <a:xfrm>
            <a:off x="2819400" y="4281839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" name="Google Shape;59;p3">
            <a:extLst>
              <a:ext uri="{FF2B5EF4-FFF2-40B4-BE49-F238E27FC236}">
                <a16:creationId xmlns:a16="http://schemas.microsoft.com/office/drawing/2014/main" id="{7F7E447A-C5E1-7420-8FBB-3CF4F1A9AD02}"/>
              </a:ext>
            </a:extLst>
          </p:cNvPr>
          <p:cNvGrpSpPr/>
          <p:nvPr/>
        </p:nvGrpSpPr>
        <p:grpSpPr>
          <a:xfrm>
            <a:off x="2819400" y="5418578"/>
            <a:ext cx="8553420" cy="417167"/>
            <a:chOff x="571500" y="5165783"/>
            <a:chExt cx="5702280" cy="278111"/>
          </a:xfrm>
        </p:grpSpPr>
        <p:sp>
          <p:nvSpPr>
            <p:cNvPr id="24" name="Google Shape;60;p3">
              <a:extLst>
                <a:ext uri="{FF2B5EF4-FFF2-40B4-BE49-F238E27FC236}">
                  <a16:creationId xmlns:a16="http://schemas.microsoft.com/office/drawing/2014/main" id="{C343142B-432C-21AC-C3ED-C746402D1775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5" name="Google Shape;61;p3">
              <a:extLst>
                <a:ext uri="{FF2B5EF4-FFF2-40B4-BE49-F238E27FC236}">
                  <a16:creationId xmlns:a16="http://schemas.microsoft.com/office/drawing/2014/main" id="{A929D6BB-1C0E-E7E6-0485-DFC4F9631D1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" name="Google Shape;59;p3">
            <a:extLst>
              <a:ext uri="{FF2B5EF4-FFF2-40B4-BE49-F238E27FC236}">
                <a16:creationId xmlns:a16="http://schemas.microsoft.com/office/drawing/2014/main" id="{6B0CC098-F2B6-F4AB-ACA1-ADA8CE90848D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30" name="Google Shape;60;p3">
              <a:extLst>
                <a:ext uri="{FF2B5EF4-FFF2-40B4-BE49-F238E27FC236}">
                  <a16:creationId xmlns:a16="http://schemas.microsoft.com/office/drawing/2014/main" id="{5827A87A-FDAA-039B-8499-A0134E71CC44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31" name="Google Shape;61;p3">
              <a:extLst>
                <a:ext uri="{FF2B5EF4-FFF2-40B4-BE49-F238E27FC236}">
                  <a16:creationId xmlns:a16="http://schemas.microsoft.com/office/drawing/2014/main" id="{8C925EB8-49B2-7445-4CD7-4610E9FC10C2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" name="Google Shape;59;p3">
            <a:extLst>
              <a:ext uri="{FF2B5EF4-FFF2-40B4-BE49-F238E27FC236}">
                <a16:creationId xmlns:a16="http://schemas.microsoft.com/office/drawing/2014/main" id="{D876FA5B-C218-9A6F-8397-0DE31982F5F2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33" name="Google Shape;60;p3">
              <a:extLst>
                <a:ext uri="{FF2B5EF4-FFF2-40B4-BE49-F238E27FC236}">
                  <a16:creationId xmlns:a16="http://schemas.microsoft.com/office/drawing/2014/main" id="{5C09F73E-CCE3-EB94-1BF8-3F91767F5498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4" name="Google Shape;61;p3">
              <a:extLst>
                <a:ext uri="{FF2B5EF4-FFF2-40B4-BE49-F238E27FC236}">
                  <a16:creationId xmlns:a16="http://schemas.microsoft.com/office/drawing/2014/main" id="{62729B27-633B-0381-594B-D268770FDC45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59;p3">
            <a:extLst>
              <a:ext uri="{FF2B5EF4-FFF2-40B4-BE49-F238E27FC236}">
                <a16:creationId xmlns:a16="http://schemas.microsoft.com/office/drawing/2014/main" id="{5BA8E6CA-3E50-9C10-4FDF-72B2CFB555C3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36" name="Google Shape;60;p3">
              <a:extLst>
                <a:ext uri="{FF2B5EF4-FFF2-40B4-BE49-F238E27FC236}">
                  <a16:creationId xmlns:a16="http://schemas.microsoft.com/office/drawing/2014/main" id="{983DC240-2142-1D58-B1DF-73232CB9745F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7" name="Google Shape;61;p3">
              <a:extLst>
                <a:ext uri="{FF2B5EF4-FFF2-40B4-BE49-F238E27FC236}">
                  <a16:creationId xmlns:a16="http://schemas.microsoft.com/office/drawing/2014/main" id="{3A4624BC-583E-7CE8-CECD-D0FFBABAA10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56;p3">
            <a:extLst>
              <a:ext uri="{FF2B5EF4-FFF2-40B4-BE49-F238E27FC236}">
                <a16:creationId xmlns:a16="http://schemas.microsoft.com/office/drawing/2014/main" id="{A7BE938D-83D0-31CC-F469-A384BD411D9E}"/>
              </a:ext>
            </a:extLst>
          </p:cNvPr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39" name="Google Shape;57;p3">
              <a:extLst>
                <a:ext uri="{FF2B5EF4-FFF2-40B4-BE49-F238E27FC236}">
                  <a16:creationId xmlns:a16="http://schemas.microsoft.com/office/drawing/2014/main" id="{9B7D4C13-7475-82A3-078D-64A6845669B6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40" name="Google Shape;58;p3">
              <a:extLst>
                <a:ext uri="{FF2B5EF4-FFF2-40B4-BE49-F238E27FC236}">
                  <a16:creationId xmlns:a16="http://schemas.microsoft.com/office/drawing/2014/main" id="{5894D6D0-8127-F992-F67B-EE9DD5979182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/>
          <p:nvPr/>
        </p:nvSpPr>
        <p:spPr>
          <a:xfrm>
            <a:off x="3057398" y="1217033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Meet </a:t>
            </a:r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The Team</a:t>
            </a:r>
            <a:endParaRPr lang="en-US" dirty="0">
              <a:solidFill>
                <a:schemeClr val="lt1"/>
              </a:solidFill>
            </a:endParaRPr>
          </a:p>
        </p:txBody>
      </p:sp>
      <p:cxnSp>
        <p:nvCxnSpPr>
          <p:cNvPr id="41" name="Google Shape;41;p2"/>
          <p:cNvCxnSpPr/>
          <p:nvPr/>
        </p:nvCxnSpPr>
        <p:spPr>
          <a:xfrm flipH="1">
            <a:off x="2654828" y="3146428"/>
            <a:ext cx="303" cy="2942162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Content">
            <a:extLst>
              <a:ext uri="{FF2B5EF4-FFF2-40B4-BE49-F238E27FC236}">
                <a16:creationId xmlns:a16="http://schemas.microsoft.com/office/drawing/2014/main" id="{CFCDD323-2FBC-FA4D-2B33-9B9AFA572339}"/>
              </a:ext>
            </a:extLst>
          </p:cNvPr>
          <p:cNvSpPr/>
          <p:nvPr/>
        </p:nvSpPr>
        <p:spPr>
          <a:xfrm>
            <a:off x="3007326" y="2208918"/>
            <a:ext cx="15887700" cy="444335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•"/>
            </a:pPr>
            <a:endParaRPr lang="en-US" sz="320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457200" indent="-457200">
              <a:spcAft>
                <a:spcPts val="1600"/>
              </a:spcAft>
              <a:buFont typeface="Arial"/>
              <a:buChar char="•"/>
            </a:pPr>
            <a:r>
              <a:rPr lang="en-US" sz="40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Ahmed Mahmoud</a:t>
            </a:r>
          </a:p>
          <a:p>
            <a:pPr marL="457200" indent="-457200">
              <a:spcAft>
                <a:spcPts val="1600"/>
              </a:spcAft>
              <a:buFont typeface="Arial"/>
              <a:buChar char="•"/>
            </a:pPr>
            <a:r>
              <a:rPr lang="en-US" sz="40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Steven Ayman</a:t>
            </a:r>
          </a:p>
          <a:p>
            <a:pPr marL="457200" indent="-457200">
              <a:spcAft>
                <a:spcPts val="1600"/>
              </a:spcAft>
              <a:buFont typeface="Arial"/>
              <a:buChar char="•"/>
            </a:pPr>
            <a:r>
              <a:rPr lang="en-US" sz="40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Habiba Ibrahim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id="{E2B5B782-5B12-44EC-DE2B-CFD7C0363A0A}"/>
              </a:ext>
            </a:extLst>
          </p:cNvPr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id="{45390769-5DBD-5D20-6B29-C7D403F2253D}"/>
              </a:ext>
            </a:extLst>
          </p:cNvPr>
          <p:cNvGrpSpPr/>
          <p:nvPr/>
        </p:nvGrpSpPr>
        <p:grpSpPr>
          <a:xfrm>
            <a:off x="2838827" y="4838849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id="{2FD0EABC-52F2-4414-C7E0-16AF5C8B4532}"/>
              </a:ext>
            </a:extLst>
          </p:cNvPr>
          <p:cNvGrpSpPr/>
          <p:nvPr/>
        </p:nvGrpSpPr>
        <p:grpSpPr>
          <a:xfrm>
            <a:off x="2838827" y="4263985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b="1" dirty="0"/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59;p3">
            <a:extLst>
              <a:ext uri="{FF2B5EF4-FFF2-40B4-BE49-F238E27FC236}">
                <a16:creationId xmlns:a16="http://schemas.microsoft.com/office/drawing/2014/main" id="{85E349D9-A193-F0B4-178E-3B608030D164}"/>
              </a:ext>
            </a:extLst>
          </p:cNvPr>
          <p:cNvGrpSpPr/>
          <p:nvPr/>
        </p:nvGrpSpPr>
        <p:grpSpPr>
          <a:xfrm>
            <a:off x="2838827" y="6060863"/>
            <a:ext cx="8553420" cy="417167"/>
            <a:chOff x="571500" y="5165783"/>
            <a:chExt cx="5702280" cy="278111"/>
          </a:xfrm>
        </p:grpSpPr>
        <p:sp>
          <p:nvSpPr>
            <p:cNvPr id="42" name="Google Shape;60;p3">
              <a:extLst>
                <a:ext uri="{FF2B5EF4-FFF2-40B4-BE49-F238E27FC236}">
                  <a16:creationId xmlns:a16="http://schemas.microsoft.com/office/drawing/2014/main" id="{EFFC4856-B028-838B-CC8D-3EF685ED7D61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43" name="Google Shape;61;p3">
              <a:extLst>
                <a:ext uri="{FF2B5EF4-FFF2-40B4-BE49-F238E27FC236}">
                  <a16:creationId xmlns:a16="http://schemas.microsoft.com/office/drawing/2014/main" id="{89CD6F7D-5AF4-EFA3-BD31-0DD92052428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" name="Google Shape;59;p3">
            <a:extLst>
              <a:ext uri="{FF2B5EF4-FFF2-40B4-BE49-F238E27FC236}">
                <a16:creationId xmlns:a16="http://schemas.microsoft.com/office/drawing/2014/main" id="{EA2AD48F-33F1-D423-8B43-A2B9E6186B50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45" name="Google Shape;60;p3">
              <a:extLst>
                <a:ext uri="{FF2B5EF4-FFF2-40B4-BE49-F238E27FC236}">
                  <a16:creationId xmlns:a16="http://schemas.microsoft.com/office/drawing/2014/main" id="{02D5BB92-6829-58A4-14C4-CC2E1C38E7BA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46" name="Google Shape;61;p3">
              <a:extLst>
                <a:ext uri="{FF2B5EF4-FFF2-40B4-BE49-F238E27FC236}">
                  <a16:creationId xmlns:a16="http://schemas.microsoft.com/office/drawing/2014/main" id="{4DBAE548-F2FA-0118-D8D8-7A4374A59639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59;p3">
            <a:extLst>
              <a:ext uri="{FF2B5EF4-FFF2-40B4-BE49-F238E27FC236}">
                <a16:creationId xmlns:a16="http://schemas.microsoft.com/office/drawing/2014/main" id="{27BE83FF-282E-B11E-237A-CEC6525324D2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49" name="Google Shape;60;p3">
              <a:extLst>
                <a:ext uri="{FF2B5EF4-FFF2-40B4-BE49-F238E27FC236}">
                  <a16:creationId xmlns:a16="http://schemas.microsoft.com/office/drawing/2014/main" id="{9308C891-F45F-3040-CFCF-C3E87DE5FE00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50" name="Google Shape;61;p3">
              <a:extLst>
                <a:ext uri="{FF2B5EF4-FFF2-40B4-BE49-F238E27FC236}">
                  <a16:creationId xmlns:a16="http://schemas.microsoft.com/office/drawing/2014/main" id="{A41658F1-DA9B-77CA-EFB1-58FA37D2F87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" name="Google Shape;59;p3">
            <a:extLst>
              <a:ext uri="{FF2B5EF4-FFF2-40B4-BE49-F238E27FC236}">
                <a16:creationId xmlns:a16="http://schemas.microsoft.com/office/drawing/2014/main" id="{F39646BC-47E1-D10A-F074-2B3D26B42E27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52" name="Google Shape;60;p3">
              <a:extLst>
                <a:ext uri="{FF2B5EF4-FFF2-40B4-BE49-F238E27FC236}">
                  <a16:creationId xmlns:a16="http://schemas.microsoft.com/office/drawing/2014/main" id="{1559F5DA-B18D-651C-52F0-64E602F05161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53" name="Google Shape;61;p3">
              <a:extLst>
                <a:ext uri="{FF2B5EF4-FFF2-40B4-BE49-F238E27FC236}">
                  <a16:creationId xmlns:a16="http://schemas.microsoft.com/office/drawing/2014/main" id="{3CA93381-05C7-6869-2C6A-D9F9CD9475D2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4" name="Google Shape;56;p3">
            <a:extLst>
              <a:ext uri="{FF2B5EF4-FFF2-40B4-BE49-F238E27FC236}">
                <a16:creationId xmlns:a16="http://schemas.microsoft.com/office/drawing/2014/main" id="{B16BFB6F-F05C-E902-F780-54F76DE8E1B1}"/>
              </a:ext>
            </a:extLst>
          </p:cNvPr>
          <p:cNvGrpSpPr/>
          <p:nvPr/>
        </p:nvGrpSpPr>
        <p:grpSpPr>
          <a:xfrm>
            <a:off x="2838827" y="5404125"/>
            <a:ext cx="8553420" cy="417186"/>
            <a:chOff x="571500" y="5165783"/>
            <a:chExt cx="5702280" cy="278124"/>
          </a:xfrm>
        </p:grpSpPr>
        <p:sp>
          <p:nvSpPr>
            <p:cNvPr id="55" name="Google Shape;57;p3">
              <a:extLst>
                <a:ext uri="{FF2B5EF4-FFF2-40B4-BE49-F238E27FC236}">
                  <a16:creationId xmlns:a16="http://schemas.microsoft.com/office/drawing/2014/main" id="{19ED329B-680C-2F4B-91C2-22D9456E29D7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56" name="Google Shape;58;p3">
              <a:extLst>
                <a:ext uri="{FF2B5EF4-FFF2-40B4-BE49-F238E27FC236}">
                  <a16:creationId xmlns:a16="http://schemas.microsoft.com/office/drawing/2014/main" id="{ED519012-679F-022C-B285-26D9FB5ED4F1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380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/>
          <p:nvPr/>
        </p:nvSpPr>
        <p:spPr>
          <a:xfrm>
            <a:off x="2262267" y="1405071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</a:rPr>
              <a:t>Problem Statement</a:t>
            </a:r>
            <a:endParaRPr lang="en-US" sz="2700" dirty="0"/>
          </a:p>
        </p:txBody>
      </p:sp>
      <p:cxnSp>
        <p:nvCxnSpPr>
          <p:cNvPr id="41" name="Google Shape;41;p2"/>
          <p:cNvCxnSpPr>
            <a:cxnSpLocks/>
          </p:cNvCxnSpPr>
          <p:nvPr/>
        </p:nvCxnSpPr>
        <p:spPr>
          <a:xfrm>
            <a:off x="1459078" y="2723791"/>
            <a:ext cx="0" cy="5086709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Content">
            <a:extLst>
              <a:ext uri="{FF2B5EF4-FFF2-40B4-BE49-F238E27FC236}">
                <a16:creationId xmlns:a16="http://schemas.microsoft.com/office/drawing/2014/main" id="{EB60DFC4-0468-46D3-4D7F-DFD37D756FA9}"/>
              </a:ext>
            </a:extLst>
          </p:cNvPr>
          <p:cNvSpPr/>
          <p:nvPr/>
        </p:nvSpPr>
        <p:spPr>
          <a:xfrm>
            <a:off x="1746803" y="3208652"/>
            <a:ext cx="15887700" cy="47383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3C132B-0A2A-6267-E258-08F93BEA63F8}"/>
              </a:ext>
            </a:extLst>
          </p:cNvPr>
          <p:cNvSpPr txBox="1"/>
          <p:nvPr/>
        </p:nvSpPr>
        <p:spPr>
          <a:xfrm>
            <a:off x="1905000" y="2723791"/>
            <a:ext cx="1463538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Manual &amp; Inefficient Library Operations:</a:t>
            </a:r>
            <a:r>
              <a:rPr lang="en-US" sz="2400" dirty="0">
                <a:solidFill>
                  <a:schemeClr val="bg1"/>
                </a:solidFill>
              </a:rPr>
              <a:t> Traditional library tracking systems rely on paper-based or unorganized methods, leading to inventory discrepancies, lost assets, and slow processing times.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Lack of Role-Based Security:</a:t>
            </a:r>
            <a:r>
              <a:rPr lang="en-US" sz="2400" dirty="0">
                <a:solidFill>
                  <a:schemeClr val="bg1"/>
                </a:solidFill>
              </a:rPr>
              <a:t> Absence of proper access controls in basic systems, allowing unauthorized users to modify catalogs, add items, or bypass administrative restrictions.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Complex Borrowing &amp; Fine Management:</a:t>
            </a:r>
            <a:r>
              <a:rPr lang="en-US" sz="2400" dirty="0">
                <a:solidFill>
                  <a:schemeClr val="bg1"/>
                </a:solidFill>
              </a:rPr>
              <a:t> Difficulty in accurately tracking active borrowing cycles, due dates, and calculating late fees dynamically without administrative overhead.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Data Loss &amp; Lack of Persistence:</a:t>
            </a:r>
            <a:r>
              <a:rPr lang="en-US" sz="2400" dirty="0">
                <a:solidFill>
                  <a:schemeClr val="bg1"/>
                </a:solidFill>
              </a:rPr>
              <a:t> Many command-line or basic scripts fail to save state between sessions, resulting in lost user data, member registries, and inventory updates upon restart.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Poor User Experience &amp; Fragile Inputs:</a:t>
            </a:r>
            <a:r>
              <a:rPr lang="en-US" sz="2400" dirty="0">
                <a:solidFill>
                  <a:schemeClr val="bg1"/>
                </a:solidFill>
              </a:rPr>
              <a:t> Command-line interfaces that easily crash due to invalid user credentials, incorrect email formats, or unhandled exceptions during navigation.</a:t>
            </a:r>
          </a:p>
        </p:txBody>
      </p:sp>
    </p:spTree>
    <p:extLst>
      <p:ext uri="{BB962C8B-B14F-4D97-AF65-F5344CB8AC3E}">
        <p14:creationId xmlns:p14="http://schemas.microsoft.com/office/powerpoint/2010/main" val="333928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id="{E2B5B782-5B12-44EC-DE2B-CFD7C0363A0A}"/>
              </a:ext>
            </a:extLst>
          </p:cNvPr>
          <p:cNvGrpSpPr/>
          <p:nvPr/>
        </p:nvGrpSpPr>
        <p:grpSpPr>
          <a:xfrm>
            <a:off x="2810560" y="3723114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Team</a:t>
              </a:r>
              <a:endParaRPr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id="{45390769-5DBD-5D20-6B29-C7D403F2253D}"/>
              </a:ext>
            </a:extLst>
          </p:cNvPr>
          <p:cNvGrpSpPr/>
          <p:nvPr/>
        </p:nvGrpSpPr>
        <p:grpSpPr>
          <a:xfrm>
            <a:off x="2819400" y="4837032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id="{2FD0EABC-52F2-4414-C7E0-16AF5C8B4532}"/>
              </a:ext>
            </a:extLst>
          </p:cNvPr>
          <p:cNvGrpSpPr/>
          <p:nvPr/>
        </p:nvGrpSpPr>
        <p:grpSpPr>
          <a:xfrm>
            <a:off x="2814980" y="4275458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" name="Google Shape;59;p3">
            <a:extLst>
              <a:ext uri="{FF2B5EF4-FFF2-40B4-BE49-F238E27FC236}">
                <a16:creationId xmlns:a16="http://schemas.microsoft.com/office/drawing/2014/main" id="{54018E2D-36AB-1EDF-D600-D15897955066}"/>
              </a:ext>
            </a:extLst>
          </p:cNvPr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24" name="Google Shape;60;p3">
              <a:extLst>
                <a:ext uri="{FF2B5EF4-FFF2-40B4-BE49-F238E27FC236}">
                  <a16:creationId xmlns:a16="http://schemas.microsoft.com/office/drawing/2014/main" id="{C284BEBB-714C-92CC-389B-E04930B213DE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5" name="Google Shape;61;p3">
              <a:extLst>
                <a:ext uri="{FF2B5EF4-FFF2-40B4-BE49-F238E27FC236}">
                  <a16:creationId xmlns:a16="http://schemas.microsoft.com/office/drawing/2014/main" id="{394F93CE-FA03-9F84-6741-14F9A46C6D20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" name="Google Shape;59;p3">
            <a:extLst>
              <a:ext uri="{FF2B5EF4-FFF2-40B4-BE49-F238E27FC236}">
                <a16:creationId xmlns:a16="http://schemas.microsoft.com/office/drawing/2014/main" id="{1BA0F404-A618-BA1C-0C1D-8354EB22E6B7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30" name="Google Shape;60;p3">
              <a:extLst>
                <a:ext uri="{FF2B5EF4-FFF2-40B4-BE49-F238E27FC236}">
                  <a16:creationId xmlns:a16="http://schemas.microsoft.com/office/drawing/2014/main" id="{1FA5297E-EA5D-D0DB-126D-6DF8EC831E4D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31" name="Google Shape;61;p3">
              <a:extLst>
                <a:ext uri="{FF2B5EF4-FFF2-40B4-BE49-F238E27FC236}">
                  <a16:creationId xmlns:a16="http://schemas.microsoft.com/office/drawing/2014/main" id="{4A19E93E-6108-ED16-243D-B4A0E6FBA9EE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" name="Google Shape;59;p3">
            <a:extLst>
              <a:ext uri="{FF2B5EF4-FFF2-40B4-BE49-F238E27FC236}">
                <a16:creationId xmlns:a16="http://schemas.microsoft.com/office/drawing/2014/main" id="{F8F1CAE1-CD2D-79C6-CB36-AD0CD87D5F1D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33" name="Google Shape;60;p3">
              <a:extLst>
                <a:ext uri="{FF2B5EF4-FFF2-40B4-BE49-F238E27FC236}">
                  <a16:creationId xmlns:a16="http://schemas.microsoft.com/office/drawing/2014/main" id="{29A19AD9-EBB1-813C-D241-45CED0068827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4" name="Google Shape;61;p3">
              <a:extLst>
                <a:ext uri="{FF2B5EF4-FFF2-40B4-BE49-F238E27FC236}">
                  <a16:creationId xmlns:a16="http://schemas.microsoft.com/office/drawing/2014/main" id="{857413E5-FA07-4665-D62C-D834A4A0AB29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59;p3">
            <a:extLst>
              <a:ext uri="{FF2B5EF4-FFF2-40B4-BE49-F238E27FC236}">
                <a16:creationId xmlns:a16="http://schemas.microsoft.com/office/drawing/2014/main" id="{30107B25-C25E-5ABC-C684-9F31E39AEF21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36" name="Google Shape;60;p3">
              <a:extLst>
                <a:ext uri="{FF2B5EF4-FFF2-40B4-BE49-F238E27FC236}">
                  <a16:creationId xmlns:a16="http://schemas.microsoft.com/office/drawing/2014/main" id="{EB90A88A-2C73-1444-72B8-52AE73DCEBA7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7" name="Google Shape;61;p3">
              <a:extLst>
                <a:ext uri="{FF2B5EF4-FFF2-40B4-BE49-F238E27FC236}">
                  <a16:creationId xmlns:a16="http://schemas.microsoft.com/office/drawing/2014/main" id="{9760B485-182A-D2A8-45B2-9C1A827E5D71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56;p3">
            <a:extLst>
              <a:ext uri="{FF2B5EF4-FFF2-40B4-BE49-F238E27FC236}">
                <a16:creationId xmlns:a16="http://schemas.microsoft.com/office/drawing/2014/main" id="{AEF15EDE-AECC-181D-01BA-8D9340B862DA}"/>
              </a:ext>
            </a:extLst>
          </p:cNvPr>
          <p:cNvGrpSpPr/>
          <p:nvPr/>
        </p:nvGrpSpPr>
        <p:grpSpPr>
          <a:xfrm>
            <a:off x="2819400" y="6134100"/>
            <a:ext cx="8553420" cy="417186"/>
            <a:chOff x="571500" y="5165783"/>
            <a:chExt cx="5702280" cy="278124"/>
          </a:xfrm>
        </p:grpSpPr>
        <p:sp>
          <p:nvSpPr>
            <p:cNvPr id="39" name="Google Shape;57;p3">
              <a:extLst>
                <a:ext uri="{FF2B5EF4-FFF2-40B4-BE49-F238E27FC236}">
                  <a16:creationId xmlns:a16="http://schemas.microsoft.com/office/drawing/2014/main" id="{5576E15D-48D3-A62E-5283-2B52E5068A79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40" name="Google Shape;58;p3">
              <a:extLst>
                <a:ext uri="{FF2B5EF4-FFF2-40B4-BE49-F238E27FC236}">
                  <a16:creationId xmlns:a16="http://schemas.microsoft.com/office/drawing/2014/main" id="{4689994B-7F51-9019-DF8D-4081452D209A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9088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>
          <a:extLst>
            <a:ext uri="{FF2B5EF4-FFF2-40B4-BE49-F238E27FC236}">
              <a16:creationId xmlns:a16="http://schemas.microsoft.com/office/drawing/2014/main" id="{BD935EEB-1829-720A-F2BD-84312E78F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>
            <a:extLst>
              <a:ext uri="{FF2B5EF4-FFF2-40B4-BE49-F238E27FC236}">
                <a16:creationId xmlns:a16="http://schemas.microsoft.com/office/drawing/2014/main" id="{1E6CA563-94F9-3A91-64BB-6817C5634A08}"/>
              </a:ext>
            </a:extLst>
          </p:cNvPr>
          <p:cNvSpPr/>
          <p:nvPr/>
        </p:nvSpPr>
        <p:spPr>
          <a:xfrm>
            <a:off x="3057398" y="1736375"/>
            <a:ext cx="105129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000" dirty="0">
                <a:solidFill>
                  <a:schemeClr val="lt1"/>
                </a:solidFill>
              </a:rPr>
              <a:t>Introduction</a:t>
            </a:r>
          </a:p>
        </p:txBody>
      </p:sp>
      <p:cxnSp>
        <p:nvCxnSpPr>
          <p:cNvPr id="41" name="Google Shape;41;p2">
            <a:extLst>
              <a:ext uri="{FF2B5EF4-FFF2-40B4-BE49-F238E27FC236}">
                <a16:creationId xmlns:a16="http://schemas.microsoft.com/office/drawing/2014/main" id="{F9B4CCB0-7FEE-107E-D1D6-139E4FD4BF57}"/>
              </a:ext>
            </a:extLst>
          </p:cNvPr>
          <p:cNvCxnSpPr>
            <a:cxnSpLocks/>
          </p:cNvCxnSpPr>
          <p:nvPr/>
        </p:nvCxnSpPr>
        <p:spPr>
          <a:xfrm>
            <a:off x="2701469" y="2806617"/>
            <a:ext cx="0" cy="5262979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Content">
            <a:extLst>
              <a:ext uri="{FF2B5EF4-FFF2-40B4-BE49-F238E27FC236}">
                <a16:creationId xmlns:a16="http://schemas.microsoft.com/office/drawing/2014/main" id="{D51219D4-7F25-034E-A6B3-B7D13277CD7D}"/>
              </a:ext>
            </a:extLst>
          </p:cNvPr>
          <p:cNvSpPr/>
          <p:nvPr/>
        </p:nvSpPr>
        <p:spPr>
          <a:xfrm>
            <a:off x="2790411" y="2811086"/>
            <a:ext cx="15887700" cy="47383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spcAft>
                <a:spcPts val="1600"/>
              </a:spcAft>
              <a:buClr>
                <a:srgbClr val="193EB0"/>
              </a:buClr>
            </a:pPr>
            <a:endParaRPr lang="en-US" sz="320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37826-8088-8C3B-23E0-A10876550F4D}"/>
              </a:ext>
            </a:extLst>
          </p:cNvPr>
          <p:cNvSpPr txBox="1"/>
          <p:nvPr/>
        </p:nvSpPr>
        <p:spPr>
          <a:xfrm>
            <a:off x="2971800" y="2933700"/>
            <a:ext cx="1252578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System Purpose</a:t>
            </a:r>
            <a:r>
              <a:rPr lang="en-US" sz="2400" dirty="0">
                <a:solidFill>
                  <a:schemeClr val="bg1"/>
                </a:solidFill>
              </a:rPr>
              <a:t>: A robust command-line application built in Python to digitize and automate core library operations, inventory tracking, and member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Inventory Scope</a:t>
            </a:r>
            <a:r>
              <a:rPr lang="en-US" sz="2400" dirty="0">
                <a:solidFill>
                  <a:schemeClr val="bg1"/>
                </a:solidFill>
              </a:rPr>
              <a:t>: Manages diverse library assets including Books, Magazines, and Digital Resources through an extensible object-oriented hierarchy.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Access Control</a:t>
            </a:r>
            <a:r>
              <a:rPr lang="en-US" sz="2400" dirty="0">
                <a:solidFill>
                  <a:schemeClr val="bg1"/>
                </a:solidFill>
              </a:rPr>
              <a:t>: Implements Role-Based Access Control (RBAC) separating administrative privileges (catalog management) from customer workflows (borrowing and returning).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Core Workflows</a:t>
            </a:r>
            <a:r>
              <a:rPr lang="en-US" sz="2400" dirty="0">
                <a:solidFill>
                  <a:schemeClr val="bg1"/>
                </a:solidFill>
              </a:rPr>
              <a:t>: Automates user registration with strict validations, secure session management, item lending cycles, and dynamic late-fee calculations.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Data Persistence</a:t>
            </a:r>
            <a:r>
              <a:rPr lang="en-US" sz="2400" dirty="0">
                <a:solidFill>
                  <a:schemeClr val="bg1"/>
                </a:solidFill>
              </a:rPr>
              <a:t>: Ensures seamless data retention and state recovery across sessions using a local JSON-based database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88963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id="{E2B5B782-5B12-44EC-DE2B-CFD7C0363A0A}"/>
              </a:ext>
            </a:extLst>
          </p:cNvPr>
          <p:cNvGrpSpPr/>
          <p:nvPr/>
        </p:nvGrpSpPr>
        <p:grpSpPr>
          <a:xfrm>
            <a:off x="2820107" y="3702613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" name="Google Shape;59;p3">
            <a:extLst>
              <a:ext uri="{FF2B5EF4-FFF2-40B4-BE49-F238E27FC236}">
                <a16:creationId xmlns:a16="http://schemas.microsoft.com/office/drawing/2014/main" id="{3C8824F9-5ABC-4EFF-668A-50A202A3809F}"/>
              </a:ext>
            </a:extLst>
          </p:cNvPr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6" name="Google Shape;60;p3">
              <a:extLst>
                <a:ext uri="{FF2B5EF4-FFF2-40B4-BE49-F238E27FC236}">
                  <a16:creationId xmlns:a16="http://schemas.microsoft.com/office/drawing/2014/main" id="{110235D1-3508-1C69-D303-3222F55949D0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b="1" dirty="0"/>
            </a:p>
          </p:txBody>
        </p:sp>
        <p:sp>
          <p:nvSpPr>
            <p:cNvPr id="7" name="Google Shape;61;p3">
              <a:extLst>
                <a:ext uri="{FF2B5EF4-FFF2-40B4-BE49-F238E27FC236}">
                  <a16:creationId xmlns:a16="http://schemas.microsoft.com/office/drawing/2014/main" id="{E6458DC3-59A4-0EBF-A289-048FA7A60A7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59;p3">
            <a:extLst>
              <a:ext uri="{FF2B5EF4-FFF2-40B4-BE49-F238E27FC236}">
                <a16:creationId xmlns:a16="http://schemas.microsoft.com/office/drawing/2014/main" id="{0E83B93D-FB8E-813F-FBA1-1E0AA2590DF9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9" name="Google Shape;60;p3">
              <a:extLst>
                <a:ext uri="{FF2B5EF4-FFF2-40B4-BE49-F238E27FC236}">
                  <a16:creationId xmlns:a16="http://schemas.microsoft.com/office/drawing/2014/main" id="{FDE556D7-EC6D-1D09-60BA-1733684DF161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10" name="Google Shape;61;p3">
              <a:extLst>
                <a:ext uri="{FF2B5EF4-FFF2-40B4-BE49-F238E27FC236}">
                  <a16:creationId xmlns:a16="http://schemas.microsoft.com/office/drawing/2014/main" id="{6277DDF3-91B1-AA00-1386-A1A6AE3E879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" name="Google Shape;59;p3">
            <a:extLst>
              <a:ext uri="{FF2B5EF4-FFF2-40B4-BE49-F238E27FC236}">
                <a16:creationId xmlns:a16="http://schemas.microsoft.com/office/drawing/2014/main" id="{3CA8EB46-EC47-6EAB-45AB-35AABA7AD741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12" name="Google Shape;60;p3">
              <a:extLst>
                <a:ext uri="{FF2B5EF4-FFF2-40B4-BE49-F238E27FC236}">
                  <a16:creationId xmlns:a16="http://schemas.microsoft.com/office/drawing/2014/main" id="{2231DFCB-7FA7-1BBF-5F08-CDF456B44596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3" name="Google Shape;61;p3">
              <a:extLst>
                <a:ext uri="{FF2B5EF4-FFF2-40B4-BE49-F238E27FC236}">
                  <a16:creationId xmlns:a16="http://schemas.microsoft.com/office/drawing/2014/main" id="{5EF8DC89-3F49-24B6-3A27-FDD5D5F053D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59;p3">
            <a:extLst>
              <a:ext uri="{FF2B5EF4-FFF2-40B4-BE49-F238E27FC236}">
                <a16:creationId xmlns:a16="http://schemas.microsoft.com/office/drawing/2014/main" id="{A19A8D05-497D-B04B-F2FA-1D1B5594F206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15" name="Google Shape;60;p3">
              <a:extLst>
                <a:ext uri="{FF2B5EF4-FFF2-40B4-BE49-F238E27FC236}">
                  <a16:creationId xmlns:a16="http://schemas.microsoft.com/office/drawing/2014/main" id="{AD80F6BE-9137-46A3-7D4B-B3F6D935D845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6" name="Google Shape;61;p3">
              <a:extLst>
                <a:ext uri="{FF2B5EF4-FFF2-40B4-BE49-F238E27FC236}">
                  <a16:creationId xmlns:a16="http://schemas.microsoft.com/office/drawing/2014/main" id="{349DEBB7-FAA1-C511-4D90-C55FABEDE3E8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id="{45390769-5DBD-5D20-6B29-C7D403F2253D}"/>
              </a:ext>
            </a:extLst>
          </p:cNvPr>
          <p:cNvGrpSpPr/>
          <p:nvPr/>
        </p:nvGrpSpPr>
        <p:grpSpPr>
          <a:xfrm>
            <a:off x="2819400" y="4819607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Google Shape;56;p3">
            <a:extLst>
              <a:ext uri="{FF2B5EF4-FFF2-40B4-BE49-F238E27FC236}">
                <a16:creationId xmlns:a16="http://schemas.microsoft.com/office/drawing/2014/main" id="{F008D7E0-5724-D67D-06AA-9C1725D5BFDC}"/>
              </a:ext>
            </a:extLst>
          </p:cNvPr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21" name="Google Shape;57;p3">
              <a:extLst>
                <a:ext uri="{FF2B5EF4-FFF2-40B4-BE49-F238E27FC236}">
                  <a16:creationId xmlns:a16="http://schemas.microsoft.com/office/drawing/2014/main" id="{91F47DB6-1F13-BCA9-1F4A-C0BE191FBDAC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22" name="Google Shape;58;p3">
              <a:extLst>
                <a:ext uri="{FF2B5EF4-FFF2-40B4-BE49-F238E27FC236}">
                  <a16:creationId xmlns:a16="http://schemas.microsoft.com/office/drawing/2014/main" id="{6A8D02FD-47C3-273C-A1A4-117CD8F6C28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id="{2FD0EABC-52F2-4414-C7E0-16AF5C8B4532}"/>
              </a:ext>
            </a:extLst>
          </p:cNvPr>
          <p:cNvGrpSpPr/>
          <p:nvPr/>
        </p:nvGrpSpPr>
        <p:grpSpPr>
          <a:xfrm>
            <a:off x="2819400" y="4209809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031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>
          <a:extLst>
            <a:ext uri="{FF2B5EF4-FFF2-40B4-BE49-F238E27FC236}">
              <a16:creationId xmlns:a16="http://schemas.microsoft.com/office/drawing/2014/main" id="{70BDCBBA-0ABD-1800-1210-090CD27AB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>
            <a:extLst>
              <a:ext uri="{FF2B5EF4-FFF2-40B4-BE49-F238E27FC236}">
                <a16:creationId xmlns:a16="http://schemas.microsoft.com/office/drawing/2014/main" id="{5067AE8F-15ED-2846-3D82-4CD51BD1DF65}"/>
              </a:ext>
            </a:extLst>
          </p:cNvPr>
          <p:cNvSpPr/>
          <p:nvPr/>
        </p:nvSpPr>
        <p:spPr>
          <a:xfrm>
            <a:off x="2249567" y="1123694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Methodology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  <p:cxnSp>
        <p:nvCxnSpPr>
          <p:cNvPr id="41" name="Google Shape;41;p2">
            <a:extLst>
              <a:ext uri="{FF2B5EF4-FFF2-40B4-BE49-F238E27FC236}">
                <a16:creationId xmlns:a16="http://schemas.microsoft.com/office/drawing/2014/main" id="{F0477620-3DF6-2992-DF61-40D9DFE5918D}"/>
              </a:ext>
            </a:extLst>
          </p:cNvPr>
          <p:cNvCxnSpPr>
            <a:cxnSpLocks/>
          </p:cNvCxnSpPr>
          <p:nvPr/>
        </p:nvCxnSpPr>
        <p:spPr>
          <a:xfrm>
            <a:off x="1447800" y="2392467"/>
            <a:ext cx="0" cy="6180033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747D85D-33E0-734F-A30A-B3DEF722333E}"/>
              </a:ext>
            </a:extLst>
          </p:cNvPr>
          <p:cNvSpPr txBox="1"/>
          <p:nvPr/>
        </p:nvSpPr>
        <p:spPr>
          <a:xfrm>
            <a:off x="1905000" y="2392467"/>
            <a:ext cx="15086785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Object-Oriented Programming (OOP): Designed with a robust class hierarchy, featuring a base </a:t>
            </a:r>
            <a:r>
              <a:rPr lang="en-US" sz="2400" dirty="0" err="1">
                <a:solidFill>
                  <a:schemeClr val="bg1"/>
                </a:solidFill>
              </a:rPr>
              <a:t>LibraryItem</a:t>
            </a:r>
            <a:r>
              <a:rPr lang="en-US" sz="2400" dirty="0">
                <a:solidFill>
                  <a:schemeClr val="bg1"/>
                </a:solidFill>
              </a:rPr>
              <a:t> class and extended subclasses (Book, Magazine, </a:t>
            </a:r>
            <a:r>
              <a:rPr lang="en-US" sz="2400" dirty="0" err="1">
                <a:solidFill>
                  <a:schemeClr val="bg1"/>
                </a:solidFill>
              </a:rPr>
              <a:t>DigitalResource</a:t>
            </a:r>
            <a:r>
              <a:rPr lang="en-US" sz="2400" dirty="0">
                <a:solidFill>
                  <a:schemeClr val="bg1"/>
                </a:solidFill>
              </a:rPr>
              <a:t>) utilizing inheritance, encapsulation, and polymorphism.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Functional Programming &amp; Closures: Implemented a custom closure (</a:t>
            </a:r>
            <a:r>
              <a:rPr lang="en-US" sz="2400" dirty="0" err="1">
                <a:solidFill>
                  <a:schemeClr val="bg1"/>
                </a:solidFill>
              </a:rPr>
              <a:t>late_fee_calculator</a:t>
            </a:r>
            <a:r>
              <a:rPr lang="en-US" sz="2400" dirty="0">
                <a:solidFill>
                  <a:schemeClr val="bg1"/>
                </a:solidFill>
              </a:rPr>
              <a:t>) to encapsulate state and handle dynamic fine calculations efficiently (5 EGP per overdue day).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Input Validation &amp; Security (Regex): Integrated strict validation loops using Regular Expressions (re module) to ensure secure email syntax, valid names, and secure password constraints with multi-try mechanics.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Memory-Efficient Iteration: Utilized Python iterators and generators (</a:t>
            </a:r>
            <a:r>
              <a:rPr lang="en-US" sz="2400" dirty="0" err="1">
                <a:solidFill>
                  <a:schemeClr val="bg1"/>
                </a:solidFill>
              </a:rPr>
              <a:t>iter</a:t>
            </a:r>
            <a:r>
              <a:rPr lang="en-US" sz="2400" dirty="0">
                <a:solidFill>
                  <a:schemeClr val="bg1"/>
                </a:solidFill>
              </a:rPr>
              <a:t>(), next(), </a:t>
            </a:r>
            <a:r>
              <a:rPr lang="en-US" sz="2400" dirty="0" err="1">
                <a:solidFill>
                  <a:schemeClr val="bg1"/>
                </a:solidFill>
              </a:rPr>
              <a:t>StopIteration</a:t>
            </a:r>
            <a:r>
              <a:rPr lang="en-US" sz="2400" dirty="0">
                <a:solidFill>
                  <a:schemeClr val="bg1"/>
                </a:solidFill>
              </a:rPr>
              <a:t>) to handle catalog filtering and available items smoothly without memory overhead.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Data Persistence &amp; JSON Architecture: Built an automated serialization and deserialization engine to sync runtime object states with a local persistent JSON database (</a:t>
            </a:r>
            <a:r>
              <a:rPr lang="en-US" sz="2400" dirty="0" err="1">
                <a:solidFill>
                  <a:schemeClr val="bg1"/>
                </a:solidFill>
              </a:rPr>
              <a:t>library_system.json</a:t>
            </a:r>
            <a:r>
              <a:rPr lang="en-US" sz="2400" dirty="0">
                <a:solidFill>
                  <a:schemeClr val="bg1"/>
                </a:solidFill>
              </a:rPr>
              <a:t>).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Enhanced User Experience (UX): Powered the terminal interface with ANSI color codes via </a:t>
            </a:r>
            <a:r>
              <a:rPr lang="en-US" sz="2400" dirty="0" err="1">
                <a:solidFill>
                  <a:schemeClr val="bg1"/>
                </a:solidFill>
              </a:rPr>
              <a:t>colorama</a:t>
            </a:r>
            <a:r>
              <a:rPr lang="en-US" sz="2400" dirty="0">
                <a:solidFill>
                  <a:schemeClr val="bg1"/>
                </a:solidFill>
              </a:rPr>
              <a:t> to deliver clear, color-coded status alerts, error warnings, and a polished CLI experience.</a:t>
            </a:r>
          </a:p>
        </p:txBody>
      </p:sp>
    </p:spTree>
    <p:extLst>
      <p:ext uri="{BB962C8B-B14F-4D97-AF65-F5344CB8AC3E}">
        <p14:creationId xmlns:p14="http://schemas.microsoft.com/office/powerpoint/2010/main" val="79181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"/>
          <p:cNvSpPr/>
          <p:nvPr/>
        </p:nvSpPr>
        <p:spPr>
          <a:xfrm>
            <a:off x="2555082" y="1393442"/>
            <a:ext cx="743355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0" b="1" dirty="0">
                <a:solidFill>
                  <a:schemeClr val="lt1"/>
                </a:solidFill>
              </a:rPr>
              <a:t>Agenda</a:t>
            </a:r>
            <a:endParaRPr sz="5000" b="1" dirty="0">
              <a:solidFill>
                <a:schemeClr val="lt1"/>
              </a:solidFill>
            </a:endParaRPr>
          </a:p>
        </p:txBody>
      </p:sp>
      <p:grpSp>
        <p:nvGrpSpPr>
          <p:cNvPr id="2" name="Google Shape;50;p3">
            <a:extLst>
              <a:ext uri="{FF2B5EF4-FFF2-40B4-BE49-F238E27FC236}">
                <a16:creationId xmlns:a16="http://schemas.microsoft.com/office/drawing/2014/main" id="{E2B5B782-5B12-44EC-DE2B-CFD7C0363A0A}"/>
              </a:ext>
            </a:extLst>
          </p:cNvPr>
          <p:cNvGrpSpPr/>
          <p:nvPr/>
        </p:nvGrpSpPr>
        <p:grpSpPr>
          <a:xfrm>
            <a:off x="2838827" y="3720831"/>
            <a:ext cx="8553420" cy="417183"/>
            <a:chOff x="571500" y="2336175"/>
            <a:chExt cx="5702280" cy="278122"/>
          </a:xfrm>
        </p:grpSpPr>
        <p:sp>
          <p:nvSpPr>
            <p:cNvPr id="3" name="Google Shape;51;p3">
              <a:extLst>
                <a:ext uri="{FF2B5EF4-FFF2-40B4-BE49-F238E27FC236}">
                  <a16:creationId xmlns:a16="http://schemas.microsoft.com/office/drawing/2014/main" id="{EC9CBDC3-46C4-05CD-6DD5-372C3499F721}"/>
                </a:ext>
              </a:extLst>
            </p:cNvPr>
            <p:cNvSpPr/>
            <p:nvPr/>
          </p:nvSpPr>
          <p:spPr>
            <a:xfrm>
              <a:off x="754380" y="233729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Team</a:t>
              </a:r>
              <a:endParaRPr sz="27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Google Shape;52;p3">
              <a:extLst>
                <a:ext uri="{FF2B5EF4-FFF2-40B4-BE49-F238E27FC236}">
                  <a16:creationId xmlns:a16="http://schemas.microsoft.com/office/drawing/2014/main" id="{C7838699-C280-E980-B759-2787620C175A}"/>
                </a:ext>
              </a:extLst>
            </p:cNvPr>
            <p:cNvSpPr/>
            <p:nvPr/>
          </p:nvSpPr>
          <p:spPr>
            <a:xfrm>
              <a:off x="571500" y="2336175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" name="Google Shape;59;p3">
            <a:extLst>
              <a:ext uri="{FF2B5EF4-FFF2-40B4-BE49-F238E27FC236}">
                <a16:creationId xmlns:a16="http://schemas.microsoft.com/office/drawing/2014/main" id="{3C8824F9-5ABC-4EFF-668A-50A202A3809F}"/>
              </a:ext>
            </a:extLst>
          </p:cNvPr>
          <p:cNvGrpSpPr/>
          <p:nvPr/>
        </p:nvGrpSpPr>
        <p:grpSpPr>
          <a:xfrm>
            <a:off x="2819400" y="5448300"/>
            <a:ext cx="8553420" cy="417167"/>
            <a:chOff x="571500" y="5165783"/>
            <a:chExt cx="5702280" cy="278111"/>
          </a:xfrm>
        </p:grpSpPr>
        <p:sp>
          <p:nvSpPr>
            <p:cNvPr id="6" name="Google Shape;60;p3">
              <a:extLst>
                <a:ext uri="{FF2B5EF4-FFF2-40B4-BE49-F238E27FC236}">
                  <a16:creationId xmlns:a16="http://schemas.microsoft.com/office/drawing/2014/main" id="{110235D1-3508-1C69-D303-3222F55949D0}"/>
                </a:ext>
              </a:extLst>
            </p:cNvPr>
            <p:cNvSpPr/>
            <p:nvPr/>
          </p:nvSpPr>
          <p:spPr>
            <a:xfrm>
              <a:off x="754380" y="5166895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Methodology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7" name="Google Shape;61;p3">
              <a:extLst>
                <a:ext uri="{FF2B5EF4-FFF2-40B4-BE49-F238E27FC236}">
                  <a16:creationId xmlns:a16="http://schemas.microsoft.com/office/drawing/2014/main" id="{E6458DC3-59A4-0EBF-A289-048FA7A60A7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" name="Google Shape;59;p3">
            <a:extLst>
              <a:ext uri="{FF2B5EF4-FFF2-40B4-BE49-F238E27FC236}">
                <a16:creationId xmlns:a16="http://schemas.microsoft.com/office/drawing/2014/main" id="{0E83B93D-FB8E-813F-FBA1-1E0AA2590DF9}"/>
              </a:ext>
            </a:extLst>
          </p:cNvPr>
          <p:cNvGrpSpPr/>
          <p:nvPr/>
        </p:nvGrpSpPr>
        <p:grpSpPr>
          <a:xfrm>
            <a:off x="2838827" y="6691517"/>
            <a:ext cx="8553420" cy="417186"/>
            <a:chOff x="571500" y="5165783"/>
            <a:chExt cx="5702280" cy="278124"/>
          </a:xfrm>
        </p:grpSpPr>
        <p:sp>
          <p:nvSpPr>
            <p:cNvPr id="9" name="Google Shape;60;p3">
              <a:extLst>
                <a:ext uri="{FF2B5EF4-FFF2-40B4-BE49-F238E27FC236}">
                  <a16:creationId xmlns:a16="http://schemas.microsoft.com/office/drawing/2014/main" id="{FDE556D7-EC6D-1D09-60BA-1733684DF161}"/>
                </a:ext>
              </a:extLst>
            </p:cNvPr>
            <p:cNvSpPr/>
            <p:nvPr/>
          </p:nvSpPr>
          <p:spPr>
            <a:xfrm>
              <a:off x="754380" y="5166909"/>
              <a:ext cx="5519400" cy="276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Results and Insights</a:t>
              </a:r>
            </a:p>
          </p:txBody>
        </p:sp>
        <p:sp>
          <p:nvSpPr>
            <p:cNvPr id="10" name="Google Shape;61;p3">
              <a:extLst>
                <a:ext uri="{FF2B5EF4-FFF2-40B4-BE49-F238E27FC236}">
                  <a16:creationId xmlns:a16="http://schemas.microsoft.com/office/drawing/2014/main" id="{6277DDF3-91B1-AA00-1386-A1A6AE3E8793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" name="Google Shape;59;p3">
            <a:extLst>
              <a:ext uri="{FF2B5EF4-FFF2-40B4-BE49-F238E27FC236}">
                <a16:creationId xmlns:a16="http://schemas.microsoft.com/office/drawing/2014/main" id="{3CA8EB46-EC47-6EAB-45AB-35AABA7AD741}"/>
              </a:ext>
            </a:extLst>
          </p:cNvPr>
          <p:cNvGrpSpPr/>
          <p:nvPr/>
        </p:nvGrpSpPr>
        <p:grpSpPr>
          <a:xfrm>
            <a:off x="2838827" y="7283645"/>
            <a:ext cx="8553420" cy="417183"/>
            <a:chOff x="571500" y="5165783"/>
            <a:chExt cx="5702280" cy="278122"/>
          </a:xfrm>
        </p:grpSpPr>
        <p:sp>
          <p:nvSpPr>
            <p:cNvPr id="12" name="Google Shape;60;p3">
              <a:extLst>
                <a:ext uri="{FF2B5EF4-FFF2-40B4-BE49-F238E27FC236}">
                  <a16:creationId xmlns:a16="http://schemas.microsoft.com/office/drawing/2014/main" id="{2231DFCB-7FA7-1BBF-5F08-CDF456B44596}"/>
                </a:ext>
              </a:extLst>
            </p:cNvPr>
            <p:cNvSpPr/>
            <p:nvPr/>
          </p:nvSpPr>
          <p:spPr>
            <a:xfrm>
              <a:off x="754380" y="5166906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Conclusion</a:t>
              </a:r>
              <a:endParaRPr lang="en-US" sz="3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3" name="Google Shape;61;p3">
              <a:extLst>
                <a:ext uri="{FF2B5EF4-FFF2-40B4-BE49-F238E27FC236}">
                  <a16:creationId xmlns:a16="http://schemas.microsoft.com/office/drawing/2014/main" id="{5EF8DC89-3F49-24B6-3A27-FDD5D5F053DC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59;p3">
            <a:extLst>
              <a:ext uri="{FF2B5EF4-FFF2-40B4-BE49-F238E27FC236}">
                <a16:creationId xmlns:a16="http://schemas.microsoft.com/office/drawing/2014/main" id="{A19A8D05-497D-B04B-F2FA-1D1B5594F206}"/>
              </a:ext>
            </a:extLst>
          </p:cNvPr>
          <p:cNvGrpSpPr/>
          <p:nvPr/>
        </p:nvGrpSpPr>
        <p:grpSpPr>
          <a:xfrm>
            <a:off x="2838827" y="7879169"/>
            <a:ext cx="8553420" cy="417185"/>
            <a:chOff x="571500" y="5165783"/>
            <a:chExt cx="5702280" cy="278123"/>
          </a:xfrm>
        </p:grpSpPr>
        <p:sp>
          <p:nvSpPr>
            <p:cNvPr id="15" name="Google Shape;60;p3">
              <a:extLst>
                <a:ext uri="{FF2B5EF4-FFF2-40B4-BE49-F238E27FC236}">
                  <a16:creationId xmlns:a16="http://schemas.microsoft.com/office/drawing/2014/main" id="{AD80F6BE-9137-46A3-7D4B-B3F6D935D845}"/>
                </a:ext>
              </a:extLst>
            </p:cNvPr>
            <p:cNvSpPr/>
            <p:nvPr/>
          </p:nvSpPr>
          <p:spPr>
            <a:xfrm>
              <a:off x="754380" y="5166907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Q&amp;A</a:t>
              </a:r>
              <a:endParaRPr lang="en-US" sz="27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6" name="Google Shape;61;p3">
              <a:extLst>
                <a:ext uri="{FF2B5EF4-FFF2-40B4-BE49-F238E27FC236}">
                  <a16:creationId xmlns:a16="http://schemas.microsoft.com/office/drawing/2014/main" id="{349DEBB7-FAA1-C511-4D90-C55FABEDE3E8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53;p3">
            <a:extLst>
              <a:ext uri="{FF2B5EF4-FFF2-40B4-BE49-F238E27FC236}">
                <a16:creationId xmlns:a16="http://schemas.microsoft.com/office/drawing/2014/main" id="{45390769-5DBD-5D20-6B29-C7D403F2253D}"/>
              </a:ext>
            </a:extLst>
          </p:cNvPr>
          <p:cNvGrpSpPr/>
          <p:nvPr/>
        </p:nvGrpSpPr>
        <p:grpSpPr>
          <a:xfrm>
            <a:off x="2832760" y="4835278"/>
            <a:ext cx="8553420" cy="417185"/>
            <a:chOff x="571500" y="3764860"/>
            <a:chExt cx="5702280" cy="278123"/>
          </a:xfrm>
        </p:grpSpPr>
        <p:sp>
          <p:nvSpPr>
            <p:cNvPr id="18" name="Google Shape;54;p3">
              <a:extLst>
                <a:ext uri="{FF2B5EF4-FFF2-40B4-BE49-F238E27FC236}">
                  <a16:creationId xmlns:a16="http://schemas.microsoft.com/office/drawing/2014/main" id="{F95E8AB1-C86C-5951-0C0A-796069300F7D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Introduction</a:t>
              </a:r>
            </a:p>
          </p:txBody>
        </p:sp>
        <p:sp>
          <p:nvSpPr>
            <p:cNvPr id="19" name="Google Shape;55;p3">
              <a:extLst>
                <a:ext uri="{FF2B5EF4-FFF2-40B4-BE49-F238E27FC236}">
                  <a16:creationId xmlns:a16="http://schemas.microsoft.com/office/drawing/2014/main" id="{89D57B8B-FE06-CC1A-1314-83365C8A16D2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rgbClr val="A6A6A6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Google Shape;56;p3">
            <a:extLst>
              <a:ext uri="{FF2B5EF4-FFF2-40B4-BE49-F238E27FC236}">
                <a16:creationId xmlns:a16="http://schemas.microsoft.com/office/drawing/2014/main" id="{F008D7E0-5724-D67D-06AA-9C1725D5BFDC}"/>
              </a:ext>
            </a:extLst>
          </p:cNvPr>
          <p:cNvGrpSpPr/>
          <p:nvPr/>
        </p:nvGrpSpPr>
        <p:grpSpPr>
          <a:xfrm>
            <a:off x="2819400" y="6057900"/>
            <a:ext cx="8553420" cy="417186"/>
            <a:chOff x="571500" y="5165783"/>
            <a:chExt cx="5702280" cy="278124"/>
          </a:xfrm>
        </p:grpSpPr>
        <p:sp>
          <p:nvSpPr>
            <p:cNvPr id="21" name="Google Shape;57;p3">
              <a:extLst>
                <a:ext uri="{FF2B5EF4-FFF2-40B4-BE49-F238E27FC236}">
                  <a16:creationId xmlns:a16="http://schemas.microsoft.com/office/drawing/2014/main" id="{91F47DB6-1F13-BCA9-1F4A-C0BE191FBDAC}"/>
                </a:ext>
              </a:extLst>
            </p:cNvPr>
            <p:cNvSpPr/>
            <p:nvPr/>
          </p:nvSpPr>
          <p:spPr>
            <a:xfrm>
              <a:off x="754380" y="5166908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b="1" dirty="0">
                  <a:latin typeface="Arial" panose="020B0604020202020204" pitchFamily="34" charset="0"/>
                  <a:cs typeface="Arial" panose="020B0604020202020204" pitchFamily="34" charset="0"/>
                </a:rPr>
                <a:t>Key Tasks</a:t>
              </a:r>
            </a:p>
          </p:txBody>
        </p:sp>
        <p:sp>
          <p:nvSpPr>
            <p:cNvPr id="22" name="Google Shape;58;p3">
              <a:extLst>
                <a:ext uri="{FF2B5EF4-FFF2-40B4-BE49-F238E27FC236}">
                  <a16:creationId xmlns:a16="http://schemas.microsoft.com/office/drawing/2014/main" id="{6A8D02FD-47C3-273C-A1A4-117CD8F6C287}"/>
                </a:ext>
              </a:extLst>
            </p:cNvPr>
            <p:cNvSpPr/>
            <p:nvPr/>
          </p:nvSpPr>
          <p:spPr>
            <a:xfrm>
              <a:off x="571500" y="5165783"/>
              <a:ext cx="36000" cy="252000"/>
            </a:xfrm>
            <a:prstGeom prst="rect">
              <a:avLst/>
            </a:prstGeom>
            <a:solidFill>
              <a:srgbClr val="193EB0"/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" name="Google Shape;53;p3">
            <a:extLst>
              <a:ext uri="{FF2B5EF4-FFF2-40B4-BE49-F238E27FC236}">
                <a16:creationId xmlns:a16="http://schemas.microsoft.com/office/drawing/2014/main" id="{2FD0EABC-52F2-4414-C7E0-16AF5C8B4532}"/>
              </a:ext>
            </a:extLst>
          </p:cNvPr>
          <p:cNvGrpSpPr/>
          <p:nvPr/>
        </p:nvGrpSpPr>
        <p:grpSpPr>
          <a:xfrm>
            <a:off x="2838827" y="4317848"/>
            <a:ext cx="8553420" cy="417185"/>
            <a:chOff x="571500" y="3764860"/>
            <a:chExt cx="5702280" cy="278123"/>
          </a:xfrm>
        </p:grpSpPr>
        <p:sp>
          <p:nvSpPr>
            <p:cNvPr id="27" name="Google Shape;54;p3">
              <a:extLst>
                <a:ext uri="{FF2B5EF4-FFF2-40B4-BE49-F238E27FC236}">
                  <a16:creationId xmlns:a16="http://schemas.microsoft.com/office/drawing/2014/main" id="{C798BA73-F11F-0207-BB46-3A4648622ECF}"/>
                </a:ext>
              </a:extLst>
            </p:cNvPr>
            <p:cNvSpPr/>
            <p:nvPr/>
          </p:nvSpPr>
          <p:spPr>
            <a:xfrm>
              <a:off x="754380" y="3765984"/>
              <a:ext cx="55194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27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 Statement</a:t>
              </a:r>
              <a:endParaRPr lang="en-US" sz="36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8" name="Google Shape;55;p3">
              <a:extLst>
                <a:ext uri="{FF2B5EF4-FFF2-40B4-BE49-F238E27FC236}">
                  <a16:creationId xmlns:a16="http://schemas.microsoft.com/office/drawing/2014/main" id="{17C2752D-50A8-62F0-8AA6-11C8C3B9AFF3}"/>
                </a:ext>
              </a:extLst>
            </p:cNvPr>
            <p:cNvSpPr/>
            <p:nvPr/>
          </p:nvSpPr>
          <p:spPr>
            <a:xfrm>
              <a:off x="571500" y="3764860"/>
              <a:ext cx="36000" cy="2520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txBody>
            <a:bodyPr spcFirstLastPara="1" wrap="square" lIns="137138" tIns="68550" rIns="137138" bIns="68550" anchor="ctr" anchorCtr="0">
              <a:noAutofit/>
            </a:bodyPr>
            <a:lstStyle/>
            <a:p>
              <a:pPr algn="ctr"/>
              <a:endParaRPr sz="4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2661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>
          <a:extLst>
            <a:ext uri="{FF2B5EF4-FFF2-40B4-BE49-F238E27FC236}">
              <a16:creationId xmlns:a16="http://schemas.microsoft.com/office/drawing/2014/main" id="{FB06A257-1607-CF44-B907-17CC70906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>
            <a:extLst>
              <a:ext uri="{FF2B5EF4-FFF2-40B4-BE49-F238E27FC236}">
                <a16:creationId xmlns:a16="http://schemas.microsoft.com/office/drawing/2014/main" id="{A9B12A40-D5CA-0CCE-FB54-48CFEB049798}"/>
              </a:ext>
            </a:extLst>
          </p:cNvPr>
          <p:cNvSpPr/>
          <p:nvPr/>
        </p:nvSpPr>
        <p:spPr>
          <a:xfrm>
            <a:off x="2209800" y="1104900"/>
            <a:ext cx="105129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Key Tasks Implemented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  <p:cxnSp>
        <p:nvCxnSpPr>
          <p:cNvPr id="41" name="Google Shape;41;p2">
            <a:extLst>
              <a:ext uri="{FF2B5EF4-FFF2-40B4-BE49-F238E27FC236}">
                <a16:creationId xmlns:a16="http://schemas.microsoft.com/office/drawing/2014/main" id="{74F60B43-E586-14A5-DD51-456EECDA6888}"/>
              </a:ext>
            </a:extLst>
          </p:cNvPr>
          <p:cNvCxnSpPr>
            <a:cxnSpLocks/>
          </p:cNvCxnSpPr>
          <p:nvPr/>
        </p:nvCxnSpPr>
        <p:spPr>
          <a:xfrm>
            <a:off x="1447800" y="2446705"/>
            <a:ext cx="0" cy="6125795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958F4C2-10D1-844E-C187-294E119FA7BE}"/>
              </a:ext>
            </a:extLst>
          </p:cNvPr>
          <p:cNvSpPr txBox="1"/>
          <p:nvPr/>
        </p:nvSpPr>
        <p:spPr>
          <a:xfrm>
            <a:off x="1866900" y="2420734"/>
            <a:ext cx="14554200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Role-Based Access Control (RBAC): Established distinct privileges where administrators can manage catalog inventory, while customers can register, search, borrow, and return items.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Double Login Prevention &amp; State Management: Implemented active session checks (</a:t>
            </a:r>
            <a:r>
              <a:rPr lang="en-US" sz="2400" dirty="0" err="1">
                <a:solidFill>
                  <a:schemeClr val="bg1"/>
                </a:solidFill>
              </a:rPr>
              <a:t>current_user</a:t>
            </a:r>
            <a:r>
              <a:rPr lang="en-US" sz="2400" dirty="0">
                <a:solidFill>
                  <a:schemeClr val="bg1"/>
                </a:solidFill>
              </a:rPr>
              <a:t>) to prevent concurrent multiple logins on the same terminal interface.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Dynamic Item Borrowing &amp; Return Tracking: Built secure lending workflows that link borrowed items directly to user profiles with strict validation preventing users from returning items they did not borrow.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Automated Late Fee Calculation:</a:t>
            </a:r>
            <a:r>
              <a:rPr lang="en-US" sz="2400" dirty="0">
                <a:solidFill>
                  <a:schemeClr val="bg1"/>
                </a:solidFill>
              </a:rPr>
              <a:t> Integrated a closure-based fine engine that calculates overdue charges automatically at 5 EGP per day past the 7-day borrowing limit. 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Robust Input Validation &amp; Error Handling: Designed multi-try validation loops using regular expressions (re) for emails, passwords, and names to protect application integrity and prevent crashes.</a:t>
            </a: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ar-EG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Persistent JSON Database Integration: Developed automated state synchronization that saves and loads all user registries, item statuses, and system changes seamlessly via JSON storage.</a:t>
            </a:r>
            <a:endParaRPr lang="ar-EG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8821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20240" y="1340495"/>
            <a:ext cx="8839199" cy="760601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2895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Register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06530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0943" y="1296144"/>
            <a:ext cx="9486114" cy="7694712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1"/>
            <a:ext cx="25949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Login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2202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32808" y="1485900"/>
            <a:ext cx="11622382" cy="7606009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40427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latin typeface="Calibri"/>
                <a:ea typeface="Calibri"/>
                <a:cs typeface="Calibri"/>
              </a:rPr>
              <a:t>Add item</a:t>
            </a:r>
            <a:endParaRPr lang="en-US" sz="6600" dirty="0">
              <a:solidFill>
                <a:schemeClr val="lt1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0918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329" y="2316757"/>
            <a:ext cx="16919342" cy="5653485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42713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ea typeface="Calibri"/>
                <a:cs typeface="Calibri"/>
              </a:rPr>
              <a:t>Borrow item</a:t>
            </a:r>
          </a:p>
        </p:txBody>
      </p:sp>
    </p:spTree>
    <p:extLst>
      <p:ext uri="{BB962C8B-B14F-4D97-AF65-F5344CB8AC3E}">
        <p14:creationId xmlns:p14="http://schemas.microsoft.com/office/powerpoint/2010/main" val="227024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2440" y="1970953"/>
            <a:ext cx="11743117" cy="6635903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42713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ea typeface="Calibri"/>
                <a:cs typeface="Calibri"/>
              </a:rPr>
              <a:t>Return item</a:t>
            </a:r>
          </a:p>
        </p:txBody>
      </p:sp>
    </p:spTree>
    <p:extLst>
      <p:ext uri="{BB962C8B-B14F-4D97-AF65-F5344CB8AC3E}">
        <p14:creationId xmlns:p14="http://schemas.microsoft.com/office/powerpoint/2010/main" val="4130790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300" y="2781300"/>
            <a:ext cx="17297400" cy="472440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49571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ea typeface="Calibri"/>
                <a:cs typeface="Calibri"/>
              </a:rPr>
              <a:t>Search catalog</a:t>
            </a:r>
          </a:p>
        </p:txBody>
      </p:sp>
    </p:spTree>
    <p:extLst>
      <p:ext uri="{BB962C8B-B14F-4D97-AF65-F5344CB8AC3E}">
        <p14:creationId xmlns:p14="http://schemas.microsoft.com/office/powerpoint/2010/main" val="238222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4439" y="1823911"/>
            <a:ext cx="16319121" cy="6639178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53381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ea typeface="Calibri"/>
                <a:cs typeface="Calibri"/>
              </a:rPr>
              <a:t>Show reports</a:t>
            </a:r>
          </a:p>
        </p:txBody>
      </p:sp>
    </p:spTree>
    <p:extLst>
      <p:ext uri="{BB962C8B-B14F-4D97-AF65-F5344CB8AC3E}">
        <p14:creationId xmlns:p14="http://schemas.microsoft.com/office/powerpoint/2010/main" val="2227515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4C5F03-5284-1199-21E6-73F2DB8D3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4439" y="2382060"/>
            <a:ext cx="16319121" cy="5522880"/>
          </a:xfrm>
          <a:prstGeom prst="rect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</p:pic>
      <p:sp>
        <p:nvSpPr>
          <p:cNvPr id="4" name="Google Shape;39;p2">
            <a:extLst>
              <a:ext uri="{FF2B5EF4-FFF2-40B4-BE49-F238E27FC236}">
                <a16:creationId xmlns:a16="http://schemas.microsoft.com/office/drawing/2014/main" id="{07D06A95-A758-DB7C-0369-E46BC4571108}"/>
              </a:ext>
            </a:extLst>
          </p:cNvPr>
          <p:cNvSpPr/>
          <p:nvPr/>
        </p:nvSpPr>
        <p:spPr>
          <a:xfrm>
            <a:off x="3272440" y="266700"/>
            <a:ext cx="533816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600" dirty="0">
                <a:solidFill>
                  <a:schemeClr val="lt1"/>
                </a:solidFill>
                <a:ea typeface="Calibri"/>
                <a:cs typeface="Calibri"/>
              </a:rPr>
              <a:t>Show reports</a:t>
            </a:r>
          </a:p>
        </p:txBody>
      </p:sp>
    </p:spTree>
    <p:extLst>
      <p:ext uri="{BB962C8B-B14F-4D97-AF65-F5344CB8AC3E}">
        <p14:creationId xmlns:p14="http://schemas.microsoft.com/office/powerpoint/2010/main" val="1606520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F676F02-7ABE-8ECA-04A5-CB247D767A5B}"/>
              </a:ext>
            </a:extLst>
          </p:cNvPr>
          <p:cNvSpPr txBox="1"/>
          <p:nvPr/>
        </p:nvSpPr>
        <p:spPr>
          <a:xfrm>
            <a:off x="907774" y="1469335"/>
            <a:ext cx="92202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b="1" dirty="0">
                <a:solidFill>
                  <a:schemeClr val="lt1"/>
                </a:solidFill>
              </a:rPr>
              <a:t>Data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CA3FC-6695-BB7D-353A-63E580A4E2A8}"/>
              </a:ext>
            </a:extLst>
          </p:cNvPr>
          <p:cNvSpPr txBox="1"/>
          <p:nvPr/>
        </p:nvSpPr>
        <p:spPr>
          <a:xfrm>
            <a:off x="1066800" y="2705100"/>
            <a:ext cx="16306800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LibraryItem</a:t>
            </a:r>
            <a:r>
              <a:rPr lang="en-US" sz="2400" dirty="0">
                <a:solidFill>
                  <a:schemeClr val="bg1"/>
                </a:solidFill>
              </a:rPr>
              <a:t> (Base Class): The core abstract blueprint containing universal attributes for all inventory items, including title, </a:t>
            </a:r>
            <a:r>
              <a:rPr lang="en-US" sz="2400" dirty="0" err="1">
                <a:solidFill>
                  <a:schemeClr val="bg1"/>
                </a:solidFill>
              </a:rPr>
              <a:t>item_id</a:t>
            </a:r>
            <a:r>
              <a:rPr lang="en-US" sz="2400" dirty="0">
                <a:solidFill>
                  <a:schemeClr val="bg1"/>
                </a:solidFill>
              </a:rPr>
              <a:t>, category, and status ("Available" or "Borrowed").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Book (Subclass): Extends </a:t>
            </a:r>
            <a:r>
              <a:rPr lang="en-US" sz="2400" dirty="0" err="1">
                <a:solidFill>
                  <a:schemeClr val="bg1"/>
                </a:solidFill>
              </a:rPr>
              <a:t>LibraryItem</a:t>
            </a:r>
            <a:r>
              <a:rPr lang="en-US" sz="2400" dirty="0">
                <a:solidFill>
                  <a:schemeClr val="bg1"/>
                </a:solidFill>
              </a:rPr>
              <a:t> with specific literary attributes including </a:t>
            </a:r>
            <a:r>
              <a:rPr lang="en-US" sz="2400" dirty="0" err="1">
                <a:solidFill>
                  <a:schemeClr val="bg1"/>
                </a:solidFill>
              </a:rPr>
              <a:t>isbn</a:t>
            </a:r>
            <a:r>
              <a:rPr lang="en-US" sz="2400" dirty="0">
                <a:solidFill>
                  <a:schemeClr val="bg1"/>
                </a:solidFill>
              </a:rPr>
              <a:t>, author, and pages for complete book cataloging.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Magazine (Subclass): Extends </a:t>
            </a:r>
            <a:r>
              <a:rPr lang="en-US" sz="2400" dirty="0" err="1">
                <a:solidFill>
                  <a:schemeClr val="bg1"/>
                </a:solidFill>
              </a:rPr>
              <a:t>LibraryItem</a:t>
            </a:r>
            <a:r>
              <a:rPr lang="en-US" sz="2400" dirty="0">
                <a:solidFill>
                  <a:schemeClr val="bg1"/>
                </a:solidFill>
              </a:rPr>
              <a:t> to manage periodical assets, incorporating specific fields such as </a:t>
            </a:r>
            <a:r>
              <a:rPr lang="en-US" sz="2400" dirty="0" err="1">
                <a:solidFill>
                  <a:schemeClr val="bg1"/>
                </a:solidFill>
              </a:rPr>
              <a:t>issue_number</a:t>
            </a:r>
            <a:r>
              <a:rPr lang="en-US" sz="2400" dirty="0">
                <a:solidFill>
                  <a:schemeClr val="bg1"/>
                </a:solidFill>
              </a:rPr>
              <a:t> and publisher.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DigitalResource</a:t>
            </a:r>
            <a:r>
              <a:rPr lang="en-US" sz="2400" dirty="0">
                <a:solidFill>
                  <a:schemeClr val="bg1"/>
                </a:solidFill>
              </a:rPr>
              <a:t> (Subclass): Extends </a:t>
            </a:r>
            <a:r>
              <a:rPr lang="en-US" sz="2400" dirty="0" err="1">
                <a:solidFill>
                  <a:schemeClr val="bg1"/>
                </a:solidFill>
              </a:rPr>
              <a:t>LibraryItem</a:t>
            </a:r>
            <a:r>
              <a:rPr lang="en-US" sz="2400" dirty="0">
                <a:solidFill>
                  <a:schemeClr val="bg1"/>
                </a:solidFill>
              </a:rPr>
              <a:t> for modern assets, storing digital-specific attributes like </a:t>
            </a:r>
            <a:r>
              <a:rPr lang="en-US" sz="2400" dirty="0" err="1">
                <a:solidFill>
                  <a:schemeClr val="bg1"/>
                </a:solidFill>
              </a:rPr>
              <a:t>file_size</a:t>
            </a:r>
            <a:r>
              <a:rPr lang="en-US" sz="2400" dirty="0">
                <a:solidFill>
                  <a:schemeClr val="bg1"/>
                </a:solidFill>
              </a:rPr>
              <a:t> (in MB) and </a:t>
            </a:r>
            <a:r>
              <a:rPr lang="en-US" sz="2400" dirty="0" err="1">
                <a:solidFill>
                  <a:schemeClr val="bg1"/>
                </a:solidFill>
              </a:rPr>
              <a:t>download_link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Member (Entity Class): Manages user profiles containing </a:t>
            </a:r>
            <a:r>
              <a:rPr lang="en-US" sz="2400" dirty="0" err="1">
                <a:solidFill>
                  <a:schemeClr val="bg1"/>
                </a:solidFill>
              </a:rPr>
              <a:t>member_id</a:t>
            </a:r>
            <a:r>
              <a:rPr lang="en-US" sz="2400" dirty="0">
                <a:solidFill>
                  <a:schemeClr val="bg1"/>
                </a:solidFill>
              </a:rPr>
              <a:t>, name, email, password, role assignment (admin or customer), and a tracking list for </a:t>
            </a:r>
            <a:r>
              <a:rPr lang="en-US" sz="2400" dirty="0" err="1">
                <a:solidFill>
                  <a:schemeClr val="bg1"/>
                </a:solidFill>
              </a:rPr>
              <a:t>borrowed_items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JSON Persistent Storage Schema: Structured relational-like JSON schema (</a:t>
            </a:r>
            <a:r>
              <a:rPr lang="en-US" sz="2400" dirty="0" err="1">
                <a:solidFill>
                  <a:schemeClr val="bg1"/>
                </a:solidFill>
              </a:rPr>
              <a:t>library_system.json</a:t>
            </a:r>
            <a:r>
              <a:rPr lang="en-US" sz="2400" dirty="0">
                <a:solidFill>
                  <a:schemeClr val="bg1"/>
                </a:solidFill>
              </a:rPr>
              <a:t>) mapping serialized members arrays and polymorphic items lists with dynamic type mapping.</a:t>
            </a:r>
          </a:p>
        </p:txBody>
      </p:sp>
    </p:spTree>
    <p:extLst>
      <p:ext uri="{BB962C8B-B14F-4D97-AF65-F5344CB8AC3E}">
        <p14:creationId xmlns:p14="http://schemas.microsoft.com/office/powerpoint/2010/main" val="124767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200150" y="700000"/>
            <a:ext cx="158877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000" b="1" dirty="0">
                <a:solidFill>
                  <a:srgbClr val="193EB0"/>
                </a:solidFill>
                <a:latin typeface="Arial"/>
                <a:ea typeface="Arial"/>
                <a:cs typeface="Arial"/>
              </a:rPr>
              <a:t>Results and Insights</a:t>
            </a:r>
          </a:p>
        </p:txBody>
      </p:sp>
      <p:sp>
        <p:nvSpPr>
          <p:cNvPr id="3" name="Content"/>
          <p:cNvSpPr/>
          <p:nvPr/>
        </p:nvSpPr>
        <p:spPr>
          <a:xfrm>
            <a:off x="1187450" y="419100"/>
            <a:ext cx="15887700" cy="768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●"/>
            </a:pPr>
            <a:r>
              <a:rPr lang="en-US" sz="3200" b="1" dirty="0"/>
              <a:t>Fully Functional Core:</a:t>
            </a:r>
            <a:r>
              <a:rPr lang="en-US" sz="3200" dirty="0"/>
              <a:t> Delivered a robust, production-ready command-line library system integrating OOP, closures, and regex validation.</a:t>
            </a:r>
          </a:p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●"/>
            </a:pPr>
            <a:r>
              <a:rPr lang="en-US" sz="3200" b="1" dirty="0"/>
              <a:t>Enhanced Security &amp; UX: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404040"/>
                </a:solidFill>
                <a:latin typeface="Arial"/>
                <a:ea typeface="Arial"/>
                <a:cs typeface="Arial"/>
              </a:rPr>
              <a:t>Prevented unauthorized access, role bypasses, and concurrent multi-logins through strict session controls and color-coded CLI feedback.</a:t>
            </a:r>
          </a:p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●"/>
            </a:pPr>
            <a:r>
              <a:rPr lang="en-US" sz="3200" b="1" dirty="0"/>
              <a:t>Data Reliability:</a:t>
            </a:r>
            <a:r>
              <a:rPr lang="en-US" sz="3200" dirty="0"/>
              <a:t> Successfully automated local persistence, ensuring zero data loss and seamless synchronization via structured JSON storage.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200150" y="700000"/>
            <a:ext cx="158877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4000" b="1" dirty="0">
                <a:solidFill>
                  <a:srgbClr val="193EB0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3" name="Content"/>
          <p:cNvSpPr/>
          <p:nvPr/>
        </p:nvSpPr>
        <p:spPr>
          <a:xfrm>
            <a:off x="1187450" y="876300"/>
            <a:ext cx="15887700" cy="768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●"/>
            </a:pPr>
            <a:r>
              <a:rPr lang="en-US" sz="3200" b="1" dirty="0">
                <a:latin typeface="Arial"/>
                <a:ea typeface="Arial"/>
                <a:cs typeface="Arial"/>
              </a:rPr>
              <a:t>Successful Delivery: </a:t>
            </a:r>
            <a:r>
              <a:rPr lang="en-US" sz="3200" dirty="0">
                <a:solidFill>
                  <a:srgbClr val="404040"/>
                </a:solidFill>
                <a:latin typeface="Arial"/>
                <a:ea typeface="Arial"/>
                <a:cs typeface="Arial"/>
              </a:rPr>
              <a:t>Built a robust, production-ready command-line library system integrating OOP architecture, closures, and regex validation as part of the Samsung Innovation Campus program.</a:t>
            </a:r>
          </a:p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●"/>
            </a:pPr>
            <a:r>
              <a:rPr lang="en-US" sz="3200" b="1" dirty="0"/>
              <a:t>Core Value &amp; Future Scope: </a:t>
            </a:r>
            <a:r>
              <a:rPr lang="en-US" sz="3200" dirty="0"/>
              <a:t>Successfully automated inventory tracking, role-based security, and persistent JSON storage, providing a scalable foundation for future enhancements like a graphical interface. </a:t>
            </a:r>
            <a:endParaRPr lang="en-US" sz="3200" dirty="0">
              <a:solidFill>
                <a:srgbClr val="40404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200150" y="700000"/>
            <a:ext cx="158877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lang="en-US" sz="5000" b="1" dirty="0">
                <a:solidFill>
                  <a:srgbClr val="193EB0"/>
                </a:solidFill>
                <a:latin typeface="Arial"/>
                <a:ea typeface="Arial"/>
                <a:cs typeface="Arial"/>
              </a:rPr>
              <a:t>Q&amp;A</a:t>
            </a:r>
          </a:p>
        </p:txBody>
      </p:sp>
      <p:sp>
        <p:nvSpPr>
          <p:cNvPr id="3" name="Content"/>
          <p:cNvSpPr/>
          <p:nvPr/>
        </p:nvSpPr>
        <p:spPr>
          <a:xfrm>
            <a:off x="1200150" y="1900000"/>
            <a:ext cx="15887700" cy="51193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marL="457200" indent="-457200">
              <a:spcAft>
                <a:spcPts val="1600"/>
              </a:spcAft>
              <a:buClr>
                <a:srgbClr val="193EB0"/>
              </a:buClr>
              <a:buFont typeface="Arial"/>
              <a:buChar char="●"/>
            </a:pPr>
            <a:r>
              <a:rPr lang="en-US" sz="4000" dirty="0">
                <a:solidFill>
                  <a:srgbClr val="404040"/>
                </a:solidFill>
                <a:latin typeface="Arial"/>
                <a:ea typeface="Arial"/>
                <a:cs typeface="Arial"/>
              </a:rPr>
              <a:t>Thank you for listening — questions are welcome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1342</TotalTime>
  <Words>1091</Words>
  <Application>Microsoft Office PowerPoint</Application>
  <PresentationFormat>Custom</PresentationFormat>
  <Paragraphs>152</Paragraphs>
  <Slides>24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Aptos</vt:lpstr>
      <vt:lpstr>Calibri</vt:lpstr>
      <vt:lpstr>Malgun Gothic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Our Team</dc:title>
  <dc:creator>farah walid</dc:creator>
  <cp:lastModifiedBy>Ahmed Mahmoud</cp:lastModifiedBy>
  <cp:revision>292</cp:revision>
  <dcterms:created xsi:type="dcterms:W3CDTF">2006-08-16T00:00:00Z</dcterms:created>
  <dcterms:modified xsi:type="dcterms:W3CDTF">2026-09-25T15:57:35Z</dcterms:modified>
  <dc:identifier>DAGQ85K8Zw8</dc:identifier>
</cp:coreProperties>
</file>