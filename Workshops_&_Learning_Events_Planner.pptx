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62" r:id="rId3"/>
    <p:sldId id="277" r:id="rId4"/>
    <p:sldId id="284" r:id="rId5"/>
    <p:sldId id="275" r:id="rId6"/>
    <p:sldId id="283" r:id="rId7"/>
    <p:sldId id="321" r:id="rId8"/>
    <p:sldId id="287" r:id="rId9"/>
    <p:sldId id="322" r:id="rId10"/>
    <p:sldId id="285" r:id="rId11"/>
    <p:sldId id="323" r:id="rId12"/>
    <p:sldId id="330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11" r:id="rId29"/>
    <p:sldId id="318" r:id="rId30"/>
    <p:sldId id="319" r:id="rId31"/>
    <p:sldId id="320" r:id="rId32"/>
    <p:sldId id="279" r:id="rId33"/>
  </p:sldIdLst>
  <p:sldSz cx="18288000" cy="10287000"/>
  <p:notesSz cx="6858000" cy="9144000"/>
  <p:embeddedFontLst>
    <p:embeddedFont>
      <p:font typeface="Malgun Gothic" panose="020B0503020000020004" pitchFamily="34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50EC2B-4D7E-4477-98E2-6AE93171336A}" v="686" dt="2026-08-23T19:44:03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0CFBD-2DEB-440F-9191-7BCF2F1F3C7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245B8-2127-40CB-94F2-866A59635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0" name="Google Shape;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06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00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3568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C1958E53-014C-2996-C465-D950EAB2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17ABE666-9A8D-E695-BDE3-98E05964F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C94E4694-C835-03C4-324A-BE6ABB83C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DCFD3807-9417-AD5C-D76A-01E93F9B67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7844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8279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54412D7C-BD6D-BE58-A850-F49D2537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66F5A32F-E385-4C6A-3FA1-09D198DF3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ED107D73-4DDB-0720-EEE5-DBFE2B83A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23CB94C3-5A06-3FD1-B395-533951687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2832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75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D324E376-B20F-2C58-26F2-49B7DA52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>
            <a:extLst>
              <a:ext uri="{FF2B5EF4-FFF2-40B4-BE49-F238E27FC236}">
                <a16:creationId xmlns:a16="http://schemas.microsoft.com/office/drawing/2014/main" id="{D9D74454-6A82-2534-C022-B259B6D9B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>
            <a:extLst>
              <a:ext uri="{FF2B5EF4-FFF2-40B4-BE49-F238E27FC236}">
                <a16:creationId xmlns:a16="http://schemas.microsoft.com/office/drawing/2014/main" id="{679A3E2F-6EB6-AB6F-2D61-85DCF89CE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</a:t>
            </a:r>
            <a:endParaRPr/>
          </a:p>
        </p:txBody>
      </p:sp>
      <p:sp>
        <p:nvSpPr>
          <p:cNvPr id="37" name="Google Shape;37;p2:notes">
            <a:extLst>
              <a:ext uri="{FF2B5EF4-FFF2-40B4-BE49-F238E27FC236}">
                <a16:creationId xmlns:a16="http://schemas.microsoft.com/office/drawing/2014/main" id="{2B513D24-C216-295B-4024-13034C7EBE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647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7b6163dee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7b6163dee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27b6163dee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m Cover">
  <p:cSld name="Interim Cover">
    <p:bg>
      <p:bgPr>
        <a:solidFill>
          <a:srgbClr val="193EB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43132" y="370513"/>
            <a:ext cx="2952967" cy="78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4"/>
          <p:cNvSpPr/>
          <p:nvPr/>
        </p:nvSpPr>
        <p:spPr>
          <a:xfrm>
            <a:off x="915806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44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/>
          <p:nvPr/>
        </p:nvSpPr>
        <p:spPr>
          <a:xfrm>
            <a:off x="1" y="0"/>
            <a:ext cx="18288000" cy="3105807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6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7045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193EB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1057441" y="9533057"/>
            <a:ext cx="533485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sz="2700"/>
          </a:p>
        </p:txBody>
      </p:sp>
    </p:spTree>
    <p:extLst>
      <p:ext uri="{BB962C8B-B14F-4D97-AF65-F5344CB8AC3E}">
        <p14:creationId xmlns:p14="http://schemas.microsoft.com/office/powerpoint/2010/main" val="360430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 Cover">
  <p:cSld name="Back Cover">
    <p:bg>
      <p:bgPr>
        <a:solidFill>
          <a:srgbClr val="193EB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1095078" y="8446562"/>
            <a:ext cx="17192922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 sz="2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 sz="2700"/>
          </a:p>
        </p:txBody>
      </p:sp>
      <p:sp>
        <p:nvSpPr>
          <p:cNvPr id="24" name="Google Shape;24;p48"/>
          <p:cNvSpPr/>
          <p:nvPr/>
        </p:nvSpPr>
        <p:spPr>
          <a:xfrm>
            <a:off x="14896875" y="605937"/>
            <a:ext cx="2513353" cy="315288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1182" y="3943319"/>
            <a:ext cx="6205635" cy="1653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10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521462" y="3030992"/>
            <a:ext cx="14699737" cy="1324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FFFFFF"/>
              </a:buClr>
              <a:buSzPts val="4400"/>
            </a:pPr>
            <a:r>
              <a:rPr lang="en-US" sz="5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SIC Workshops and Learning Events Planner </a:t>
            </a:r>
            <a:endParaRPr lang="en-US" sz="42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1D468-0F1E-42A1-32BF-F584AA2EBCB0}"/>
              </a:ext>
            </a:extLst>
          </p:cNvPr>
          <p:cNvSpPr txBox="1"/>
          <p:nvPr/>
        </p:nvSpPr>
        <p:spPr>
          <a:xfrm>
            <a:off x="2521542" y="4363152"/>
            <a:ext cx="3879258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00B3E3"/>
                </a:solidFill>
                <a:latin typeface="Calibri"/>
                <a:ea typeface="Calibri"/>
                <a:cs typeface="Calibri"/>
              </a:rPr>
              <a:t>SIC 8</a:t>
            </a:r>
            <a:endParaRPr lang="en-US" sz="3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3200" dirty="0">
              <a:solidFill>
                <a:srgbClr val="00B3E3"/>
              </a:solidFill>
              <a:latin typeface="Arial"/>
              <a:ea typeface="Calibri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solidFill>
                  <a:srgbClr val="00B3E3"/>
                </a:solidFill>
                <a:latin typeface="Arial"/>
                <a:ea typeface="Calibri"/>
                <a:cs typeface="Arial"/>
              </a:rPr>
              <a:t>CP - 801 Course</a:t>
            </a:r>
            <a:endParaRPr lang="en-US" sz="32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571500" indent="-571500">
              <a:buFont typeface="Arial"/>
              <a:buChar char="•"/>
            </a:pPr>
            <a:endParaRPr lang="en-US" sz="3600" dirty="0">
              <a:solidFill>
                <a:srgbClr val="00B3E3"/>
              </a:solidFill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00B3E3"/>
                </a:solidFill>
                <a:ea typeface="Calibri"/>
                <a:cs typeface="Calibri"/>
              </a:rPr>
              <a:t>Team 12</a:t>
            </a:r>
            <a:endParaRPr lang="en-US" sz="36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/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64902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281839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7F7E447A-C5E1-7420-8FBB-3CF4F1A9AD02}"/>
              </a:ext>
            </a:extLst>
          </p:cNvPr>
          <p:cNvGrpSpPr/>
          <p:nvPr/>
        </p:nvGrpSpPr>
        <p:grpSpPr>
          <a:xfrm>
            <a:off x="2819400" y="5418578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343142B-432C-21AC-C3ED-C746402D1775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A929D6BB-1C0E-E7E6-0485-DFC4F9631D1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6B0CC098-F2B6-F4AB-ACA1-ADA8CE90848D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5827A87A-FDAA-039B-8499-A0134E71CC44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8C925EB8-49B2-7445-4CD7-4610E9FC10C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D876FA5B-C218-9A6F-8397-0DE31982F5F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5C09F73E-CCE3-EB94-1BF8-3F91767F5498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62729B27-633B-0381-594B-D268770FDC45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5BA8E6CA-3E50-9C10-4FDF-72B2CFB555C3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983DC240-2142-1D58-B1DF-73232CB9745F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3A4624BC-583E-7CE8-CECD-D0FFBABAA10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7BE938D-83D0-31CC-F469-A384BD411D9E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9B7D4C13-7475-82A3-078D-64A6845669B6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5894D6D0-8127-F992-F67B-EE9DD597918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057398" y="1217033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Meet </a:t>
            </a:r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The Team</a:t>
            </a:r>
            <a:endParaRPr lang="en-US" dirty="0">
              <a:solidFill>
                <a:schemeClr val="lt1"/>
              </a:solidFill>
            </a:endParaRPr>
          </a:p>
        </p:txBody>
      </p:sp>
      <p:cxnSp>
        <p:nvCxnSpPr>
          <p:cNvPr id="41" name="Google Shape;41;p2"/>
          <p:cNvCxnSpPr/>
          <p:nvPr/>
        </p:nvCxnSpPr>
        <p:spPr>
          <a:xfrm flipH="1">
            <a:off x="2654828" y="3146428"/>
            <a:ext cx="303" cy="2942162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CFCDD323-2FBC-FA4D-2B33-9B9AFA572339}"/>
              </a:ext>
            </a:extLst>
          </p:cNvPr>
          <p:cNvSpPr/>
          <p:nvPr/>
        </p:nvSpPr>
        <p:spPr>
          <a:xfrm>
            <a:off x="3007326" y="2208918"/>
            <a:ext cx="15887700" cy="44433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•"/>
            </a:pP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Ahmed Mahmoud</a:t>
            </a: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Steven Ayman</a:t>
            </a:r>
          </a:p>
          <a:p>
            <a:pPr marL="457200" indent="-457200">
              <a:spcAft>
                <a:spcPts val="1600"/>
              </a:spcAft>
              <a:buFont typeface="Arial"/>
              <a:buChar char="•"/>
            </a:pPr>
            <a:r>
              <a:rPr lang="en-US" sz="40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Habiba Ibrahim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8827" y="4838849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263985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b="1" dirty="0"/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59;p3">
            <a:extLst>
              <a:ext uri="{FF2B5EF4-FFF2-40B4-BE49-F238E27FC236}">
                <a16:creationId xmlns:a16="http://schemas.microsoft.com/office/drawing/2014/main" id="{85E349D9-A193-F0B4-178E-3B608030D164}"/>
              </a:ext>
            </a:extLst>
          </p:cNvPr>
          <p:cNvGrpSpPr/>
          <p:nvPr/>
        </p:nvGrpSpPr>
        <p:grpSpPr>
          <a:xfrm>
            <a:off x="2838827" y="6060863"/>
            <a:ext cx="8553420" cy="417167"/>
            <a:chOff x="571500" y="5165783"/>
            <a:chExt cx="5702280" cy="278111"/>
          </a:xfrm>
        </p:grpSpPr>
        <p:sp>
          <p:nvSpPr>
            <p:cNvPr id="42" name="Google Shape;60;p3">
              <a:extLst>
                <a:ext uri="{FF2B5EF4-FFF2-40B4-BE49-F238E27FC236}">
                  <a16:creationId xmlns:a16="http://schemas.microsoft.com/office/drawing/2014/main" id="{EFFC4856-B028-838B-CC8D-3EF685ED7D61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Google Shape;61;p3">
              <a:extLst>
                <a:ext uri="{FF2B5EF4-FFF2-40B4-BE49-F238E27FC236}">
                  <a16:creationId xmlns:a16="http://schemas.microsoft.com/office/drawing/2014/main" id="{89CD6F7D-5AF4-EFA3-BD31-0DD92052428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59;p3">
            <a:extLst>
              <a:ext uri="{FF2B5EF4-FFF2-40B4-BE49-F238E27FC236}">
                <a16:creationId xmlns:a16="http://schemas.microsoft.com/office/drawing/2014/main" id="{EA2AD48F-33F1-D423-8B43-A2B9E6186B50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45" name="Google Shape;60;p3">
              <a:extLst>
                <a:ext uri="{FF2B5EF4-FFF2-40B4-BE49-F238E27FC236}">
                  <a16:creationId xmlns:a16="http://schemas.microsoft.com/office/drawing/2014/main" id="{02D5BB92-6829-58A4-14C4-CC2E1C38E7BA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46" name="Google Shape;61;p3">
              <a:extLst>
                <a:ext uri="{FF2B5EF4-FFF2-40B4-BE49-F238E27FC236}">
                  <a16:creationId xmlns:a16="http://schemas.microsoft.com/office/drawing/2014/main" id="{4DBAE548-F2FA-0118-D8D8-7A4374A5963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9;p3">
            <a:extLst>
              <a:ext uri="{FF2B5EF4-FFF2-40B4-BE49-F238E27FC236}">
                <a16:creationId xmlns:a16="http://schemas.microsoft.com/office/drawing/2014/main" id="{27BE83FF-282E-B11E-237A-CEC6525324D2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49" name="Google Shape;60;p3">
              <a:extLst>
                <a:ext uri="{FF2B5EF4-FFF2-40B4-BE49-F238E27FC236}">
                  <a16:creationId xmlns:a16="http://schemas.microsoft.com/office/drawing/2014/main" id="{9308C891-F45F-3040-CFCF-C3E87DE5FE00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Google Shape;61;p3">
              <a:extLst>
                <a:ext uri="{FF2B5EF4-FFF2-40B4-BE49-F238E27FC236}">
                  <a16:creationId xmlns:a16="http://schemas.microsoft.com/office/drawing/2014/main" id="{A41658F1-DA9B-77CA-EFB1-58FA37D2F87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9;p3">
            <a:extLst>
              <a:ext uri="{FF2B5EF4-FFF2-40B4-BE49-F238E27FC236}">
                <a16:creationId xmlns:a16="http://schemas.microsoft.com/office/drawing/2014/main" id="{F39646BC-47E1-D10A-F074-2B3D26B42E27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52" name="Google Shape;60;p3">
              <a:extLst>
                <a:ext uri="{FF2B5EF4-FFF2-40B4-BE49-F238E27FC236}">
                  <a16:creationId xmlns:a16="http://schemas.microsoft.com/office/drawing/2014/main" id="{1559F5DA-B18D-651C-52F0-64E602F05161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3" name="Google Shape;61;p3">
              <a:extLst>
                <a:ext uri="{FF2B5EF4-FFF2-40B4-BE49-F238E27FC236}">
                  <a16:creationId xmlns:a16="http://schemas.microsoft.com/office/drawing/2014/main" id="{3CA93381-05C7-6869-2C6A-D9F9CD9475D2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6;p3">
            <a:extLst>
              <a:ext uri="{FF2B5EF4-FFF2-40B4-BE49-F238E27FC236}">
                <a16:creationId xmlns:a16="http://schemas.microsoft.com/office/drawing/2014/main" id="{B16BFB6F-F05C-E902-F780-54F76DE8E1B1}"/>
              </a:ext>
            </a:extLst>
          </p:cNvPr>
          <p:cNvGrpSpPr/>
          <p:nvPr/>
        </p:nvGrpSpPr>
        <p:grpSpPr>
          <a:xfrm>
            <a:off x="2838827" y="5404125"/>
            <a:ext cx="8553420" cy="417186"/>
            <a:chOff x="571500" y="5165783"/>
            <a:chExt cx="5702280" cy="278124"/>
          </a:xfrm>
        </p:grpSpPr>
        <p:sp>
          <p:nvSpPr>
            <p:cNvPr id="55" name="Google Shape;57;p3">
              <a:extLst>
                <a:ext uri="{FF2B5EF4-FFF2-40B4-BE49-F238E27FC236}">
                  <a16:creationId xmlns:a16="http://schemas.microsoft.com/office/drawing/2014/main" id="{19ED329B-680C-2F4B-91C2-22D9456E29D7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56" name="Google Shape;58;p3">
              <a:extLst>
                <a:ext uri="{FF2B5EF4-FFF2-40B4-BE49-F238E27FC236}">
                  <a16:creationId xmlns:a16="http://schemas.microsoft.com/office/drawing/2014/main" id="{ED519012-679F-022C-B285-26D9FB5ED4F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38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2262267" y="1405071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</a:rPr>
              <a:t>Problem Statement</a:t>
            </a:r>
            <a:endParaRPr lang="en-US" sz="2700" dirty="0"/>
          </a:p>
        </p:txBody>
      </p:sp>
      <p:cxnSp>
        <p:nvCxnSpPr>
          <p:cNvPr id="41" name="Google Shape;41;p2"/>
          <p:cNvCxnSpPr>
            <a:cxnSpLocks/>
          </p:cNvCxnSpPr>
          <p:nvPr/>
        </p:nvCxnSpPr>
        <p:spPr>
          <a:xfrm>
            <a:off x="1459078" y="2723791"/>
            <a:ext cx="0" cy="4324709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EB60DFC4-0468-46D3-4D7F-DFD37D756FA9}"/>
              </a:ext>
            </a:extLst>
          </p:cNvPr>
          <p:cNvSpPr/>
          <p:nvPr/>
        </p:nvSpPr>
        <p:spPr>
          <a:xfrm>
            <a:off x="1746803" y="3208652"/>
            <a:ext cx="15887700" cy="4738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C132B-0A2A-6267-E258-08F93BEA63F8}"/>
              </a:ext>
            </a:extLst>
          </p:cNvPr>
          <p:cNvSpPr txBox="1"/>
          <p:nvPr/>
        </p:nvSpPr>
        <p:spPr>
          <a:xfrm>
            <a:off x="1905000" y="2723791"/>
            <a:ext cx="146353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Fragmented Learning Opportunities: Learners and professionals struggle to discover, filter, and organize programming, AI, and design workshops in a single unified platform.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Manual Calculation Inefficiencies:</a:t>
            </a:r>
            <a:r>
              <a:rPr lang="en-US" sz="2400" dirty="0">
                <a:solidFill>
                  <a:schemeClr val="bg1"/>
                </a:solidFill>
              </a:rPr>
              <a:t> Lack of automated mechanisms to accurately compute total registration fees, cumulative learning durations, and transportation costs across multiple selected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Data Persistence &amp; Role Management Challenges:</a:t>
            </a:r>
            <a:r>
              <a:rPr lang="en-US" sz="2400" dirty="0">
                <a:solidFill>
                  <a:schemeClr val="bg1"/>
                </a:solidFill>
              </a:rPr>
              <a:t> The need for secure user authentication, distinct role segregation (Admin vs. User), and persistent JSON-based data storage to prevent information loss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Navigation &amp; Search Overhead:</a:t>
            </a:r>
            <a:r>
              <a:rPr lang="en-US" sz="2400" dirty="0">
                <a:solidFill>
                  <a:schemeClr val="bg1"/>
                </a:solidFill>
              </a:rPr>
              <a:t> The absence of structured data models like Stacks for page-history management and efficient manual sorting algorithms (Merge Sort) for quick price and rating evaluation.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28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10560" y="3723114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Team</a:t>
              </a:r>
              <a:endParaRPr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37032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4980" y="4275458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59;p3">
            <a:extLst>
              <a:ext uri="{FF2B5EF4-FFF2-40B4-BE49-F238E27FC236}">
                <a16:creationId xmlns:a16="http://schemas.microsoft.com/office/drawing/2014/main" id="{54018E2D-36AB-1EDF-D600-D15897955066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24" name="Google Shape;60;p3">
              <a:extLst>
                <a:ext uri="{FF2B5EF4-FFF2-40B4-BE49-F238E27FC236}">
                  <a16:creationId xmlns:a16="http://schemas.microsoft.com/office/drawing/2014/main" id="{C284BEBB-714C-92CC-389B-E04930B213DE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" name="Google Shape;61;p3">
              <a:extLst>
                <a:ext uri="{FF2B5EF4-FFF2-40B4-BE49-F238E27FC236}">
                  <a16:creationId xmlns:a16="http://schemas.microsoft.com/office/drawing/2014/main" id="{394F93CE-FA03-9F84-6741-14F9A46C6D20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59;p3">
            <a:extLst>
              <a:ext uri="{FF2B5EF4-FFF2-40B4-BE49-F238E27FC236}">
                <a16:creationId xmlns:a16="http://schemas.microsoft.com/office/drawing/2014/main" id="{1BA0F404-A618-BA1C-0C1D-8354EB22E6B7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30" name="Google Shape;60;p3">
              <a:extLst>
                <a:ext uri="{FF2B5EF4-FFF2-40B4-BE49-F238E27FC236}">
                  <a16:creationId xmlns:a16="http://schemas.microsoft.com/office/drawing/2014/main" id="{1FA5297E-EA5D-D0DB-126D-6DF8EC831E4D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31" name="Google Shape;61;p3">
              <a:extLst>
                <a:ext uri="{FF2B5EF4-FFF2-40B4-BE49-F238E27FC236}">
                  <a16:creationId xmlns:a16="http://schemas.microsoft.com/office/drawing/2014/main" id="{4A19E93E-6108-ED16-243D-B4A0E6FBA9EE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59;p3">
            <a:extLst>
              <a:ext uri="{FF2B5EF4-FFF2-40B4-BE49-F238E27FC236}">
                <a16:creationId xmlns:a16="http://schemas.microsoft.com/office/drawing/2014/main" id="{F8F1CAE1-CD2D-79C6-CB36-AD0CD87D5F1D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33" name="Google Shape;60;p3">
              <a:extLst>
                <a:ext uri="{FF2B5EF4-FFF2-40B4-BE49-F238E27FC236}">
                  <a16:creationId xmlns:a16="http://schemas.microsoft.com/office/drawing/2014/main" id="{29A19AD9-EBB1-813C-D241-45CED0068827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Google Shape;61;p3">
              <a:extLst>
                <a:ext uri="{FF2B5EF4-FFF2-40B4-BE49-F238E27FC236}">
                  <a16:creationId xmlns:a16="http://schemas.microsoft.com/office/drawing/2014/main" id="{857413E5-FA07-4665-D62C-D834A4A0AB29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59;p3">
            <a:extLst>
              <a:ext uri="{FF2B5EF4-FFF2-40B4-BE49-F238E27FC236}">
                <a16:creationId xmlns:a16="http://schemas.microsoft.com/office/drawing/2014/main" id="{30107B25-C25E-5ABC-C684-9F31E39AEF21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36" name="Google Shape;60;p3">
              <a:extLst>
                <a:ext uri="{FF2B5EF4-FFF2-40B4-BE49-F238E27FC236}">
                  <a16:creationId xmlns:a16="http://schemas.microsoft.com/office/drawing/2014/main" id="{EB90A88A-2C73-1444-72B8-52AE73DCEBA7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Google Shape;61;p3">
              <a:extLst>
                <a:ext uri="{FF2B5EF4-FFF2-40B4-BE49-F238E27FC236}">
                  <a16:creationId xmlns:a16="http://schemas.microsoft.com/office/drawing/2014/main" id="{9760B485-182A-D2A8-45B2-9C1A827E5D71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56;p3">
            <a:extLst>
              <a:ext uri="{FF2B5EF4-FFF2-40B4-BE49-F238E27FC236}">
                <a16:creationId xmlns:a16="http://schemas.microsoft.com/office/drawing/2014/main" id="{AEF15EDE-AECC-181D-01BA-8D9340B862DA}"/>
              </a:ext>
            </a:extLst>
          </p:cNvPr>
          <p:cNvGrpSpPr/>
          <p:nvPr/>
        </p:nvGrpSpPr>
        <p:grpSpPr>
          <a:xfrm>
            <a:off x="2819400" y="6134100"/>
            <a:ext cx="8553420" cy="417186"/>
            <a:chOff x="571500" y="5165783"/>
            <a:chExt cx="5702280" cy="278124"/>
          </a:xfrm>
        </p:grpSpPr>
        <p:sp>
          <p:nvSpPr>
            <p:cNvPr id="39" name="Google Shape;57;p3">
              <a:extLst>
                <a:ext uri="{FF2B5EF4-FFF2-40B4-BE49-F238E27FC236}">
                  <a16:creationId xmlns:a16="http://schemas.microsoft.com/office/drawing/2014/main" id="{5576E15D-48D3-A62E-5283-2B52E5068A79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40" name="Google Shape;58;p3">
              <a:extLst>
                <a:ext uri="{FF2B5EF4-FFF2-40B4-BE49-F238E27FC236}">
                  <a16:creationId xmlns:a16="http://schemas.microsoft.com/office/drawing/2014/main" id="{4689994B-7F51-9019-DF8D-4081452D209A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90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BD935EEB-1829-720A-F2BD-84312E78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1E6CA563-94F9-3A91-64BB-6817C5634A08}"/>
              </a:ext>
            </a:extLst>
          </p:cNvPr>
          <p:cNvSpPr/>
          <p:nvPr/>
        </p:nvSpPr>
        <p:spPr>
          <a:xfrm>
            <a:off x="3057398" y="1736375"/>
            <a:ext cx="105129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000" dirty="0">
                <a:solidFill>
                  <a:schemeClr val="lt1"/>
                </a:solidFill>
              </a:rPr>
              <a:t>Introduction</a:t>
            </a: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F9B4CCB0-7FEE-107E-D1D6-139E4FD4BF57}"/>
              </a:ext>
            </a:extLst>
          </p:cNvPr>
          <p:cNvCxnSpPr>
            <a:cxnSpLocks/>
          </p:cNvCxnSpPr>
          <p:nvPr/>
        </p:nvCxnSpPr>
        <p:spPr>
          <a:xfrm>
            <a:off x="2701469" y="2806617"/>
            <a:ext cx="0" cy="5262979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Content">
            <a:extLst>
              <a:ext uri="{FF2B5EF4-FFF2-40B4-BE49-F238E27FC236}">
                <a16:creationId xmlns:a16="http://schemas.microsoft.com/office/drawing/2014/main" id="{D51219D4-7F25-034E-A6B3-B7D13277CD7D}"/>
              </a:ext>
            </a:extLst>
          </p:cNvPr>
          <p:cNvSpPr/>
          <p:nvPr/>
        </p:nvSpPr>
        <p:spPr>
          <a:xfrm>
            <a:off x="2790411" y="2811086"/>
            <a:ext cx="15887700" cy="4738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1600"/>
              </a:spcAft>
              <a:buClr>
                <a:srgbClr val="193EB0"/>
              </a:buClr>
            </a:pPr>
            <a:endParaRPr lang="en-US" sz="320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37826-8088-8C3B-23E0-A10876550F4D}"/>
              </a:ext>
            </a:extLst>
          </p:cNvPr>
          <p:cNvSpPr txBox="1"/>
          <p:nvPr/>
        </p:nvSpPr>
        <p:spPr>
          <a:xfrm>
            <a:off x="2971800" y="2933700"/>
            <a:ext cx="1252578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System Overview:</a:t>
            </a:r>
            <a:r>
              <a:rPr lang="en-US" sz="2400" dirty="0">
                <a:solidFill>
                  <a:schemeClr val="bg1"/>
                </a:solidFill>
              </a:rPr>
              <a:t> Developed the </a:t>
            </a:r>
            <a:r>
              <a:rPr lang="en-US" sz="2400" b="1" dirty="0">
                <a:solidFill>
                  <a:schemeClr val="bg1"/>
                </a:solidFill>
              </a:rPr>
              <a:t>Workshops &amp; Learning Events Planner</a:t>
            </a:r>
            <a:r>
              <a:rPr lang="en-US" sz="2400" dirty="0">
                <a:solidFill>
                  <a:schemeClr val="bg1"/>
                </a:solidFill>
              </a:rPr>
              <a:t> as a comprehensive Python application designed to help users discover, filter, and organize educational events across categories like Programming, AI, and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Core Functionalities:</a:t>
            </a:r>
            <a:r>
              <a:rPr lang="en-US" sz="2400" dirty="0">
                <a:solidFill>
                  <a:schemeClr val="bg1"/>
                </a:solidFill>
              </a:rPr>
              <a:t> Enables users to manage personalized learning plans, search events by name or trainer, and evaluate options through manual sorting and calculations.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Architecture &amp; Data Management:</a:t>
            </a:r>
            <a:r>
              <a:rPr lang="en-US" sz="2400" dirty="0">
                <a:solidFill>
                  <a:schemeClr val="bg1"/>
                </a:solidFill>
              </a:rPr>
              <a:t> Built using Object-Oriented Programming (OOP) principles, featuring persistent JSON storage for events and users, alongside role-based access control for Admins and standard Users.</a:t>
            </a:r>
            <a:endParaRPr lang="ar-EG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Financial &amp; Duration Calculations:</a:t>
            </a:r>
            <a:r>
              <a:rPr lang="en-US" sz="2400" dirty="0">
                <a:solidFill>
                  <a:schemeClr val="bg1"/>
                </a:solidFill>
              </a:rPr>
              <a:t> Integrates robust summary functions to compute total registration fees, cumulative learning durations, and associated costs for the user's plan.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3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20107" y="3702613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b="1" dirty="0"/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19400" y="4819607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19400" y="4209809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031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70BDCBBA-0ABD-1800-1210-090CD27A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5067AE8F-15ED-2846-3D82-4CD51BD1DF65}"/>
              </a:ext>
            </a:extLst>
          </p:cNvPr>
          <p:cNvSpPr/>
          <p:nvPr/>
        </p:nvSpPr>
        <p:spPr>
          <a:xfrm>
            <a:off x="2249567" y="1123694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Methodology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F0477620-3DF6-2992-DF61-40D9DFE5918D}"/>
              </a:ext>
            </a:extLst>
          </p:cNvPr>
          <p:cNvCxnSpPr>
            <a:cxnSpLocks/>
          </p:cNvCxnSpPr>
          <p:nvPr/>
        </p:nvCxnSpPr>
        <p:spPr>
          <a:xfrm>
            <a:off x="1447800" y="2392467"/>
            <a:ext cx="0" cy="5632311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47D85D-33E0-734F-A30A-B3DEF722333E}"/>
              </a:ext>
            </a:extLst>
          </p:cNvPr>
          <p:cNvSpPr txBox="1"/>
          <p:nvPr/>
        </p:nvSpPr>
        <p:spPr>
          <a:xfrm>
            <a:off x="1905000" y="2392467"/>
            <a:ext cx="150867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Object-Oriented Programming (OOP) Design: Structured the system architecture using class-based modeling (e.g., Event, </a:t>
            </a:r>
            <a:r>
              <a:rPr lang="en-US" altLang="en-US" sz="2400" dirty="0" err="1">
                <a:solidFill>
                  <a:schemeClr val="bg1"/>
                </a:solidFill>
              </a:rPr>
              <a:t>EventManager</a:t>
            </a:r>
            <a:r>
              <a:rPr lang="en-US" altLang="en-US" sz="2400" dirty="0">
                <a:solidFill>
                  <a:schemeClr val="bg1"/>
                </a:solidFill>
              </a:rPr>
              <a:t>, </a:t>
            </a:r>
            <a:r>
              <a:rPr lang="en-US" altLang="en-US" sz="2400" dirty="0" err="1">
                <a:solidFill>
                  <a:schemeClr val="bg1"/>
                </a:solidFill>
              </a:rPr>
              <a:t>LearningPlan</a:t>
            </a:r>
            <a:r>
              <a:rPr lang="en-US" altLang="en-US" sz="2400" dirty="0">
                <a:solidFill>
                  <a:schemeClr val="bg1"/>
                </a:solidFill>
              </a:rPr>
              <a:t>) to promote modularity and clean code.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Persistent Data Storage: Implemented local JSON-based serialization and deserialization (</a:t>
            </a:r>
            <a:r>
              <a:rPr lang="en-US" altLang="en-US" sz="2400" dirty="0" err="1">
                <a:solidFill>
                  <a:schemeClr val="bg1"/>
                </a:solidFill>
              </a:rPr>
              <a:t>events.json</a:t>
            </a:r>
            <a:r>
              <a:rPr lang="en-US" altLang="en-US" sz="2400" dirty="0">
                <a:solidFill>
                  <a:schemeClr val="bg1"/>
                </a:solidFill>
              </a:rPr>
              <a:t>, </a:t>
            </a:r>
            <a:r>
              <a:rPr lang="en-US" altLang="en-US" sz="2400" dirty="0" err="1">
                <a:solidFill>
                  <a:schemeClr val="bg1"/>
                </a:solidFill>
              </a:rPr>
              <a:t>users.json</a:t>
            </a:r>
            <a:r>
              <a:rPr lang="en-US" altLang="en-US" sz="2400" dirty="0">
                <a:solidFill>
                  <a:schemeClr val="bg1"/>
                </a:solidFill>
              </a:rPr>
              <a:t>) to maintain state and ensure data persistence across sessions.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Authentication &amp; Role-Based Access Control: Developed robust input validation routines and access control measures to separate permissions between regular users and system administrators.</a:t>
            </a:r>
          </a:p>
          <a:p>
            <a:endParaRPr lang="ar-EG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Manual Algorithmic Sorting: Integrated a custom Divide-and-Conquer </a:t>
            </a:r>
            <a:r>
              <a:rPr lang="en-US" altLang="en-US" sz="2400" dirty="0" err="1">
                <a:solidFill>
                  <a:schemeClr val="bg1"/>
                </a:solidFill>
              </a:rPr>
              <a:t>MergeSort</a:t>
            </a:r>
            <a:r>
              <a:rPr lang="en-US" altLang="en-US" sz="2400" dirty="0">
                <a:solidFill>
                  <a:schemeClr val="bg1"/>
                </a:solidFill>
              </a:rPr>
              <a:t> algorithm to manually organize events by price or rating without relying on built-in sorting functions.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Recursive Summary Computation:</a:t>
            </a:r>
            <a:r>
              <a:rPr lang="en-US" sz="2400" dirty="0">
                <a:solidFill>
                  <a:schemeClr val="bg1"/>
                </a:solidFill>
              </a:rPr>
              <a:t> Built recursive calculation functions within the learning plan logic to compute cumulative event fees and total learning hours efficiently.</a:t>
            </a:r>
          </a:p>
        </p:txBody>
      </p:sp>
    </p:spTree>
    <p:extLst>
      <p:ext uri="{BB962C8B-B14F-4D97-AF65-F5344CB8AC3E}">
        <p14:creationId xmlns:p14="http://schemas.microsoft.com/office/powerpoint/2010/main" val="79181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2555082" y="1393442"/>
            <a:ext cx="74335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000" b="1" dirty="0">
                <a:solidFill>
                  <a:schemeClr val="lt1"/>
                </a:solidFill>
              </a:rPr>
              <a:t>Agenda</a:t>
            </a:r>
            <a:endParaRPr sz="5000" b="1" dirty="0">
              <a:solidFill>
                <a:schemeClr val="lt1"/>
              </a:solidFill>
            </a:endParaRPr>
          </a:p>
        </p:txBody>
      </p:sp>
      <p:grpSp>
        <p:nvGrpSpPr>
          <p:cNvPr id="2" name="Google Shape;50;p3">
            <a:extLst>
              <a:ext uri="{FF2B5EF4-FFF2-40B4-BE49-F238E27FC236}">
                <a16:creationId xmlns:a16="http://schemas.microsoft.com/office/drawing/2014/main" id="{E2B5B782-5B12-44EC-DE2B-CFD7C0363A0A}"/>
              </a:ext>
            </a:extLst>
          </p:cNvPr>
          <p:cNvGrpSpPr/>
          <p:nvPr/>
        </p:nvGrpSpPr>
        <p:grpSpPr>
          <a:xfrm>
            <a:off x="2838827" y="3720831"/>
            <a:ext cx="8553420" cy="417183"/>
            <a:chOff x="571500" y="2336175"/>
            <a:chExt cx="5702280" cy="278122"/>
          </a:xfrm>
        </p:grpSpPr>
        <p:sp>
          <p:nvSpPr>
            <p:cNvPr id="3" name="Google Shape;51;p3">
              <a:extLst>
                <a:ext uri="{FF2B5EF4-FFF2-40B4-BE49-F238E27FC236}">
                  <a16:creationId xmlns:a16="http://schemas.microsoft.com/office/drawing/2014/main" id="{EC9CBDC3-46C4-05CD-6DD5-372C3499F721}"/>
                </a:ext>
              </a:extLst>
            </p:cNvPr>
            <p:cNvSpPr/>
            <p:nvPr/>
          </p:nvSpPr>
          <p:spPr>
            <a:xfrm>
              <a:off x="754380" y="233729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endParaRPr sz="27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52;p3">
              <a:extLst>
                <a:ext uri="{FF2B5EF4-FFF2-40B4-BE49-F238E27FC236}">
                  <a16:creationId xmlns:a16="http://schemas.microsoft.com/office/drawing/2014/main" id="{C7838699-C280-E980-B759-2787620C175A}"/>
                </a:ext>
              </a:extLst>
            </p:cNvPr>
            <p:cNvSpPr/>
            <p:nvPr/>
          </p:nvSpPr>
          <p:spPr>
            <a:xfrm>
              <a:off x="571500" y="2336175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oogle Shape;59;p3">
            <a:extLst>
              <a:ext uri="{FF2B5EF4-FFF2-40B4-BE49-F238E27FC236}">
                <a16:creationId xmlns:a16="http://schemas.microsoft.com/office/drawing/2014/main" id="{3C8824F9-5ABC-4EFF-668A-50A202A3809F}"/>
              </a:ext>
            </a:extLst>
          </p:cNvPr>
          <p:cNvGrpSpPr/>
          <p:nvPr/>
        </p:nvGrpSpPr>
        <p:grpSpPr>
          <a:xfrm>
            <a:off x="2819400" y="5448300"/>
            <a:ext cx="8553420" cy="417167"/>
            <a:chOff x="571500" y="5165783"/>
            <a:chExt cx="5702280" cy="278111"/>
          </a:xfrm>
        </p:grpSpPr>
        <p:sp>
          <p:nvSpPr>
            <p:cNvPr id="6" name="Google Shape;60;p3">
              <a:extLst>
                <a:ext uri="{FF2B5EF4-FFF2-40B4-BE49-F238E27FC236}">
                  <a16:creationId xmlns:a16="http://schemas.microsoft.com/office/drawing/2014/main" id="{110235D1-3508-1C69-D303-3222F55949D0}"/>
                </a:ext>
              </a:extLst>
            </p:cNvPr>
            <p:cNvSpPr/>
            <p:nvPr/>
          </p:nvSpPr>
          <p:spPr>
            <a:xfrm>
              <a:off x="754380" y="5166895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Methodology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" name="Google Shape;61;p3">
              <a:extLst>
                <a:ext uri="{FF2B5EF4-FFF2-40B4-BE49-F238E27FC236}">
                  <a16:creationId xmlns:a16="http://schemas.microsoft.com/office/drawing/2014/main" id="{E6458DC3-59A4-0EBF-A289-048FA7A60A7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59;p3">
            <a:extLst>
              <a:ext uri="{FF2B5EF4-FFF2-40B4-BE49-F238E27FC236}">
                <a16:creationId xmlns:a16="http://schemas.microsoft.com/office/drawing/2014/main" id="{0E83B93D-FB8E-813F-FBA1-1E0AA2590DF9}"/>
              </a:ext>
            </a:extLst>
          </p:cNvPr>
          <p:cNvGrpSpPr/>
          <p:nvPr/>
        </p:nvGrpSpPr>
        <p:grpSpPr>
          <a:xfrm>
            <a:off x="2838827" y="6691517"/>
            <a:ext cx="8553420" cy="417186"/>
            <a:chOff x="571500" y="5165783"/>
            <a:chExt cx="5702280" cy="278124"/>
          </a:xfrm>
        </p:grpSpPr>
        <p:sp>
          <p:nvSpPr>
            <p:cNvPr id="9" name="Google Shape;60;p3">
              <a:extLst>
                <a:ext uri="{FF2B5EF4-FFF2-40B4-BE49-F238E27FC236}">
                  <a16:creationId xmlns:a16="http://schemas.microsoft.com/office/drawing/2014/main" id="{FDE556D7-EC6D-1D09-60BA-1733684DF161}"/>
                </a:ext>
              </a:extLst>
            </p:cNvPr>
            <p:cNvSpPr/>
            <p:nvPr/>
          </p:nvSpPr>
          <p:spPr>
            <a:xfrm>
              <a:off x="754380" y="5166909"/>
              <a:ext cx="5519400" cy="276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Results and Insights</a:t>
              </a:r>
            </a:p>
          </p:txBody>
        </p:sp>
        <p:sp>
          <p:nvSpPr>
            <p:cNvPr id="10" name="Google Shape;61;p3">
              <a:extLst>
                <a:ext uri="{FF2B5EF4-FFF2-40B4-BE49-F238E27FC236}">
                  <a16:creationId xmlns:a16="http://schemas.microsoft.com/office/drawing/2014/main" id="{6277DDF3-91B1-AA00-1386-A1A6AE3E8793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59;p3">
            <a:extLst>
              <a:ext uri="{FF2B5EF4-FFF2-40B4-BE49-F238E27FC236}">
                <a16:creationId xmlns:a16="http://schemas.microsoft.com/office/drawing/2014/main" id="{3CA8EB46-EC47-6EAB-45AB-35AABA7AD741}"/>
              </a:ext>
            </a:extLst>
          </p:cNvPr>
          <p:cNvGrpSpPr/>
          <p:nvPr/>
        </p:nvGrpSpPr>
        <p:grpSpPr>
          <a:xfrm>
            <a:off x="2838827" y="7283645"/>
            <a:ext cx="8553420" cy="417183"/>
            <a:chOff x="571500" y="5165783"/>
            <a:chExt cx="5702280" cy="278122"/>
          </a:xfrm>
        </p:grpSpPr>
        <p:sp>
          <p:nvSpPr>
            <p:cNvPr id="12" name="Google Shape;60;p3">
              <a:extLst>
                <a:ext uri="{FF2B5EF4-FFF2-40B4-BE49-F238E27FC236}">
                  <a16:creationId xmlns:a16="http://schemas.microsoft.com/office/drawing/2014/main" id="{2231DFCB-7FA7-1BBF-5F08-CDF456B44596}"/>
                </a:ext>
              </a:extLst>
            </p:cNvPr>
            <p:cNvSpPr/>
            <p:nvPr/>
          </p:nvSpPr>
          <p:spPr>
            <a:xfrm>
              <a:off x="754380" y="5166906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Conclusion</a:t>
              </a:r>
              <a:endPara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Google Shape;61;p3">
              <a:extLst>
                <a:ext uri="{FF2B5EF4-FFF2-40B4-BE49-F238E27FC236}">
                  <a16:creationId xmlns:a16="http://schemas.microsoft.com/office/drawing/2014/main" id="{5EF8DC89-3F49-24B6-3A27-FDD5D5F053DC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59;p3">
            <a:extLst>
              <a:ext uri="{FF2B5EF4-FFF2-40B4-BE49-F238E27FC236}">
                <a16:creationId xmlns:a16="http://schemas.microsoft.com/office/drawing/2014/main" id="{A19A8D05-497D-B04B-F2FA-1D1B5594F206}"/>
              </a:ext>
            </a:extLst>
          </p:cNvPr>
          <p:cNvGrpSpPr/>
          <p:nvPr/>
        </p:nvGrpSpPr>
        <p:grpSpPr>
          <a:xfrm>
            <a:off x="2838827" y="7879169"/>
            <a:ext cx="8553420" cy="417185"/>
            <a:chOff x="571500" y="5165783"/>
            <a:chExt cx="5702280" cy="278123"/>
          </a:xfrm>
        </p:grpSpPr>
        <p:sp>
          <p:nvSpPr>
            <p:cNvPr id="15" name="Google Shape;60;p3">
              <a:extLst>
                <a:ext uri="{FF2B5EF4-FFF2-40B4-BE49-F238E27FC236}">
                  <a16:creationId xmlns:a16="http://schemas.microsoft.com/office/drawing/2014/main" id="{AD80F6BE-9137-46A3-7D4B-B3F6D935D845}"/>
                </a:ext>
              </a:extLst>
            </p:cNvPr>
            <p:cNvSpPr/>
            <p:nvPr/>
          </p:nvSpPr>
          <p:spPr>
            <a:xfrm>
              <a:off x="754380" y="5166907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Q&amp;A</a:t>
              </a:r>
              <a:endParaRPr lang="en-US" sz="2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Google Shape;61;p3">
              <a:extLst>
                <a:ext uri="{FF2B5EF4-FFF2-40B4-BE49-F238E27FC236}">
                  <a16:creationId xmlns:a16="http://schemas.microsoft.com/office/drawing/2014/main" id="{349DEBB7-FAA1-C511-4D90-C55FABEDE3E8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53;p3">
            <a:extLst>
              <a:ext uri="{FF2B5EF4-FFF2-40B4-BE49-F238E27FC236}">
                <a16:creationId xmlns:a16="http://schemas.microsoft.com/office/drawing/2014/main" id="{45390769-5DBD-5D20-6B29-C7D403F2253D}"/>
              </a:ext>
            </a:extLst>
          </p:cNvPr>
          <p:cNvGrpSpPr/>
          <p:nvPr/>
        </p:nvGrpSpPr>
        <p:grpSpPr>
          <a:xfrm>
            <a:off x="2832760" y="4835278"/>
            <a:ext cx="8553420" cy="417185"/>
            <a:chOff x="571500" y="3764860"/>
            <a:chExt cx="5702280" cy="278123"/>
          </a:xfrm>
        </p:grpSpPr>
        <p:sp>
          <p:nvSpPr>
            <p:cNvPr id="18" name="Google Shape;54;p3">
              <a:extLst>
                <a:ext uri="{FF2B5EF4-FFF2-40B4-BE49-F238E27FC236}">
                  <a16:creationId xmlns:a16="http://schemas.microsoft.com/office/drawing/2014/main" id="{F95E8AB1-C86C-5951-0C0A-796069300F7D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19" name="Google Shape;55;p3">
              <a:extLst>
                <a:ext uri="{FF2B5EF4-FFF2-40B4-BE49-F238E27FC236}">
                  <a16:creationId xmlns:a16="http://schemas.microsoft.com/office/drawing/2014/main" id="{89D57B8B-FE06-CC1A-1314-83365C8A16D2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56;p3">
            <a:extLst>
              <a:ext uri="{FF2B5EF4-FFF2-40B4-BE49-F238E27FC236}">
                <a16:creationId xmlns:a16="http://schemas.microsoft.com/office/drawing/2014/main" id="{F008D7E0-5724-D67D-06AA-9C1725D5BFDC}"/>
              </a:ext>
            </a:extLst>
          </p:cNvPr>
          <p:cNvGrpSpPr/>
          <p:nvPr/>
        </p:nvGrpSpPr>
        <p:grpSpPr>
          <a:xfrm>
            <a:off x="2819400" y="6057900"/>
            <a:ext cx="8553420" cy="417186"/>
            <a:chOff x="571500" y="5165783"/>
            <a:chExt cx="5702280" cy="278124"/>
          </a:xfrm>
        </p:grpSpPr>
        <p:sp>
          <p:nvSpPr>
            <p:cNvPr id="21" name="Google Shape;57;p3">
              <a:extLst>
                <a:ext uri="{FF2B5EF4-FFF2-40B4-BE49-F238E27FC236}">
                  <a16:creationId xmlns:a16="http://schemas.microsoft.com/office/drawing/2014/main" id="{91F47DB6-1F13-BCA9-1F4A-C0BE191FBDAC}"/>
                </a:ext>
              </a:extLst>
            </p:cNvPr>
            <p:cNvSpPr/>
            <p:nvPr/>
          </p:nvSpPr>
          <p:spPr>
            <a:xfrm>
              <a:off x="754380" y="5166908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b="1" dirty="0">
                  <a:latin typeface="Arial" panose="020B0604020202020204" pitchFamily="34" charset="0"/>
                  <a:cs typeface="Arial" panose="020B0604020202020204" pitchFamily="34" charset="0"/>
                </a:rPr>
                <a:t>Key Tasks</a:t>
              </a:r>
            </a:p>
          </p:txBody>
        </p:sp>
        <p:sp>
          <p:nvSpPr>
            <p:cNvPr id="22" name="Google Shape;58;p3">
              <a:extLst>
                <a:ext uri="{FF2B5EF4-FFF2-40B4-BE49-F238E27FC236}">
                  <a16:creationId xmlns:a16="http://schemas.microsoft.com/office/drawing/2014/main" id="{6A8D02FD-47C3-273C-A1A4-117CD8F6C287}"/>
                </a:ext>
              </a:extLst>
            </p:cNvPr>
            <p:cNvSpPr/>
            <p:nvPr/>
          </p:nvSpPr>
          <p:spPr>
            <a:xfrm>
              <a:off x="571500" y="5165783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53;p3">
            <a:extLst>
              <a:ext uri="{FF2B5EF4-FFF2-40B4-BE49-F238E27FC236}">
                <a16:creationId xmlns:a16="http://schemas.microsoft.com/office/drawing/2014/main" id="{2FD0EABC-52F2-4414-C7E0-16AF5C8B4532}"/>
              </a:ext>
            </a:extLst>
          </p:cNvPr>
          <p:cNvGrpSpPr/>
          <p:nvPr/>
        </p:nvGrpSpPr>
        <p:grpSpPr>
          <a:xfrm>
            <a:off x="2838827" y="4317848"/>
            <a:ext cx="8553420" cy="417185"/>
            <a:chOff x="571500" y="3764860"/>
            <a:chExt cx="5702280" cy="278123"/>
          </a:xfrm>
        </p:grpSpPr>
        <p:sp>
          <p:nvSpPr>
            <p:cNvPr id="27" name="Google Shape;54;p3">
              <a:extLst>
                <a:ext uri="{FF2B5EF4-FFF2-40B4-BE49-F238E27FC236}">
                  <a16:creationId xmlns:a16="http://schemas.microsoft.com/office/drawing/2014/main" id="{C798BA73-F11F-0207-BB46-3A4648622ECF}"/>
                </a:ext>
              </a:extLst>
            </p:cNvPr>
            <p:cNvSpPr/>
            <p:nvPr/>
          </p:nvSpPr>
          <p:spPr>
            <a:xfrm>
              <a:off x="754380" y="3765984"/>
              <a:ext cx="55194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7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US" sz="3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Google Shape;55;p3">
              <a:extLst>
                <a:ext uri="{FF2B5EF4-FFF2-40B4-BE49-F238E27FC236}">
                  <a16:creationId xmlns:a16="http://schemas.microsoft.com/office/drawing/2014/main" id="{17C2752D-50A8-62F0-8AA6-11C8C3B9AFF3}"/>
                </a:ext>
              </a:extLst>
            </p:cNvPr>
            <p:cNvSpPr/>
            <p:nvPr/>
          </p:nvSpPr>
          <p:spPr>
            <a:xfrm>
              <a:off x="571500" y="3764860"/>
              <a:ext cx="36000" cy="25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spcFirstLastPara="1" wrap="square" lIns="137138" tIns="68550" rIns="137138" bIns="68550" anchor="ctr" anchorCtr="0">
              <a:noAutofit/>
            </a:bodyPr>
            <a:lstStyle/>
            <a:p>
              <a:pPr algn="ctr"/>
              <a:endParaRPr sz="4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266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FB06A257-1607-CF44-B907-17CC7090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>
            <a:extLst>
              <a:ext uri="{FF2B5EF4-FFF2-40B4-BE49-F238E27FC236}">
                <a16:creationId xmlns:a16="http://schemas.microsoft.com/office/drawing/2014/main" id="{A9B12A40-D5CA-0CCE-FB54-48CFEB049798}"/>
              </a:ext>
            </a:extLst>
          </p:cNvPr>
          <p:cNvSpPr/>
          <p:nvPr/>
        </p:nvSpPr>
        <p:spPr>
          <a:xfrm>
            <a:off x="2209800" y="1104900"/>
            <a:ext cx="105129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Key Tasks Implemented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  <p:cxnSp>
        <p:nvCxnSpPr>
          <p:cNvPr id="41" name="Google Shape;41;p2">
            <a:extLst>
              <a:ext uri="{FF2B5EF4-FFF2-40B4-BE49-F238E27FC236}">
                <a16:creationId xmlns:a16="http://schemas.microsoft.com/office/drawing/2014/main" id="{74F60B43-E586-14A5-DD51-456EECDA6888}"/>
              </a:ext>
            </a:extLst>
          </p:cNvPr>
          <p:cNvCxnSpPr>
            <a:cxnSpLocks/>
          </p:cNvCxnSpPr>
          <p:nvPr/>
        </p:nvCxnSpPr>
        <p:spPr>
          <a:xfrm>
            <a:off x="1447800" y="2446705"/>
            <a:ext cx="0" cy="5237008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58F4C2-10D1-844E-C187-294E119FA7BE}"/>
              </a:ext>
            </a:extLst>
          </p:cNvPr>
          <p:cNvSpPr txBox="1"/>
          <p:nvPr/>
        </p:nvSpPr>
        <p:spPr>
          <a:xfrm>
            <a:off x="1866900" y="2420734"/>
            <a:ext cx="14554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User Authentication &amp; Role Management: Implemented secure login and registration modules with strict input validations and segregated permissions for standard users and administrators.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Event Management System: Developed core operations for administrators to add, update seats, modify pricing, and remove events, coupled with dynamic filtering and keyword search for users.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Personalized Learning Plan Integration: Created a dedicated plan builder enabling users to add or remove workshops, automatically update available seat counts, and maintain state persistence.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 Merge Sort Algorithm: Built a manual Divide-and-Conquer sorting mechanism to order workshop listings efficiently by price or rating without relying on built-in language shortcuts. 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Financial &amp; Cost Summary Calculations: Integrated automated summary features to compute cumulative event fees, total learning hours, and transportation costs in a structured report. </a:t>
            </a:r>
            <a:endParaRPr lang="ar-EG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8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0" y="1340495"/>
            <a:ext cx="10210800" cy="760601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886200" y="190500"/>
            <a:ext cx="2895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Register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653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0" y="1296144"/>
            <a:ext cx="10058400" cy="769471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886200" y="280481"/>
            <a:ext cx="37379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User Login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20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32808" y="1594135"/>
            <a:ext cx="11622382" cy="738953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272440" y="266700"/>
            <a:ext cx="5109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Display Events</a:t>
            </a:r>
            <a:endParaRPr lang="en-US" sz="6600" dirty="0">
              <a:solidFill>
                <a:schemeClr val="lt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91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600" y="1731789"/>
            <a:ext cx="11368217" cy="706931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657600" y="342900"/>
            <a:ext cx="42713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Filter Events</a:t>
            </a:r>
          </a:p>
        </p:txBody>
      </p:sp>
    </p:spTree>
    <p:extLst>
      <p:ext uri="{BB962C8B-B14F-4D97-AF65-F5344CB8AC3E}">
        <p14:creationId xmlns:p14="http://schemas.microsoft.com/office/powerpoint/2010/main" val="227024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1542" y="1714501"/>
            <a:ext cx="11034343" cy="689235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272440" y="266700"/>
            <a:ext cx="73193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Search for an Events</a:t>
            </a:r>
          </a:p>
        </p:txBody>
      </p:sp>
    </p:spTree>
    <p:extLst>
      <p:ext uri="{BB962C8B-B14F-4D97-AF65-F5344CB8AC3E}">
        <p14:creationId xmlns:p14="http://schemas.microsoft.com/office/powerpoint/2010/main" val="413079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2440" y="1359547"/>
            <a:ext cx="11356855" cy="756790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272440" y="266700"/>
            <a:ext cx="40427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Sort Events</a:t>
            </a:r>
          </a:p>
        </p:txBody>
      </p:sp>
    </p:spTree>
    <p:extLst>
      <p:ext uri="{BB962C8B-B14F-4D97-AF65-F5344CB8AC3E}">
        <p14:creationId xmlns:p14="http://schemas.microsoft.com/office/powerpoint/2010/main" val="238222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0800" y="1521411"/>
            <a:ext cx="13792200" cy="740882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2590800" y="341106"/>
            <a:ext cx="6553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Add Event to plan</a:t>
            </a:r>
          </a:p>
        </p:txBody>
      </p:sp>
    </p:spTree>
    <p:extLst>
      <p:ext uri="{BB962C8B-B14F-4D97-AF65-F5344CB8AC3E}">
        <p14:creationId xmlns:p14="http://schemas.microsoft.com/office/powerpoint/2010/main" val="222751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1543" y="1282363"/>
            <a:ext cx="11472657" cy="7306857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081542" y="266700"/>
            <a:ext cx="888185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Remove Event from plan</a:t>
            </a:r>
          </a:p>
        </p:txBody>
      </p:sp>
    </p:spTree>
    <p:extLst>
      <p:ext uri="{BB962C8B-B14F-4D97-AF65-F5344CB8AC3E}">
        <p14:creationId xmlns:p14="http://schemas.microsoft.com/office/powerpoint/2010/main" val="160652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2440" y="1485900"/>
            <a:ext cx="11662760" cy="690899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272440" y="266700"/>
            <a:ext cx="5871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Display My Plan</a:t>
            </a:r>
          </a:p>
        </p:txBody>
      </p:sp>
    </p:spTree>
    <p:extLst>
      <p:ext uri="{BB962C8B-B14F-4D97-AF65-F5344CB8AC3E}">
        <p14:creationId xmlns:p14="http://schemas.microsoft.com/office/powerpoint/2010/main" val="3756122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5700" y="1638300"/>
            <a:ext cx="9829800" cy="70104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695700" y="266700"/>
            <a:ext cx="6667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Calculate Final Plan</a:t>
            </a:r>
          </a:p>
        </p:txBody>
      </p:sp>
    </p:spTree>
    <p:extLst>
      <p:ext uri="{BB962C8B-B14F-4D97-AF65-F5344CB8AC3E}">
        <p14:creationId xmlns:p14="http://schemas.microsoft.com/office/powerpoint/2010/main" val="438526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3295" y="1638300"/>
            <a:ext cx="11344782" cy="672384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043295" y="495300"/>
            <a:ext cx="53381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Admin Login</a:t>
            </a:r>
          </a:p>
        </p:txBody>
      </p:sp>
    </p:spTree>
    <p:extLst>
      <p:ext uri="{BB962C8B-B14F-4D97-AF65-F5344CB8AC3E}">
        <p14:creationId xmlns:p14="http://schemas.microsoft.com/office/powerpoint/2010/main" val="2444526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2900" y="1524000"/>
            <a:ext cx="9982200" cy="72390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4152900" y="342900"/>
            <a:ext cx="53381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Add Event</a:t>
            </a:r>
          </a:p>
        </p:txBody>
      </p:sp>
    </p:spTree>
    <p:extLst>
      <p:ext uri="{BB962C8B-B14F-4D97-AF65-F5344CB8AC3E}">
        <p14:creationId xmlns:p14="http://schemas.microsoft.com/office/powerpoint/2010/main" val="4106795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5700" y="1532053"/>
            <a:ext cx="10896599" cy="722289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695700" y="342900"/>
            <a:ext cx="71247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Update Event Seats</a:t>
            </a:r>
          </a:p>
        </p:txBody>
      </p:sp>
    </p:spTree>
    <p:extLst>
      <p:ext uri="{BB962C8B-B14F-4D97-AF65-F5344CB8AC3E}">
        <p14:creationId xmlns:p14="http://schemas.microsoft.com/office/powerpoint/2010/main" val="870294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0074" y="1562100"/>
            <a:ext cx="10527851" cy="71628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3880074" y="190500"/>
            <a:ext cx="663552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Update Event Price</a:t>
            </a:r>
          </a:p>
        </p:txBody>
      </p:sp>
    </p:spTree>
    <p:extLst>
      <p:ext uri="{BB962C8B-B14F-4D97-AF65-F5344CB8AC3E}">
        <p14:creationId xmlns:p14="http://schemas.microsoft.com/office/powerpoint/2010/main" val="388191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4439" y="1714500"/>
            <a:ext cx="16319121" cy="678179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984438" y="495300"/>
            <a:ext cx="831196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Admin Removes Event</a:t>
            </a:r>
          </a:p>
        </p:txBody>
      </p:sp>
    </p:spTree>
    <p:extLst>
      <p:ext uri="{BB962C8B-B14F-4D97-AF65-F5344CB8AC3E}">
        <p14:creationId xmlns:p14="http://schemas.microsoft.com/office/powerpoint/2010/main" val="4280440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C5F03-5284-1199-21E6-73F2DB8D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9259" y="1562100"/>
            <a:ext cx="15249480" cy="634284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4" name="Google Shape;39;p2">
            <a:extLst>
              <a:ext uri="{FF2B5EF4-FFF2-40B4-BE49-F238E27FC236}">
                <a16:creationId xmlns:a16="http://schemas.microsoft.com/office/drawing/2014/main" id="{07D06A95-A758-DB7C-0369-E46BC4571108}"/>
              </a:ext>
            </a:extLst>
          </p:cNvPr>
          <p:cNvSpPr/>
          <p:nvPr/>
        </p:nvSpPr>
        <p:spPr>
          <a:xfrm>
            <a:off x="1519258" y="342900"/>
            <a:ext cx="800574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600" dirty="0">
                <a:solidFill>
                  <a:schemeClr val="lt1"/>
                </a:solidFill>
                <a:ea typeface="Calibri"/>
                <a:cs typeface="Calibri"/>
              </a:rPr>
              <a:t>Admin Displays Events</a:t>
            </a:r>
          </a:p>
        </p:txBody>
      </p:sp>
    </p:spTree>
    <p:extLst>
      <p:ext uri="{BB962C8B-B14F-4D97-AF65-F5344CB8AC3E}">
        <p14:creationId xmlns:p14="http://schemas.microsoft.com/office/powerpoint/2010/main" val="92809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676F02-7ABE-8ECA-04A5-CB247D767A5B}"/>
              </a:ext>
            </a:extLst>
          </p:cNvPr>
          <p:cNvSpPr txBox="1"/>
          <p:nvPr/>
        </p:nvSpPr>
        <p:spPr>
          <a:xfrm>
            <a:off x="907774" y="1469335"/>
            <a:ext cx="9220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lt1"/>
                </a:solidFill>
              </a:rPr>
              <a:t>Data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CA3FC-6695-BB7D-353A-63E580A4E2A8}"/>
              </a:ext>
            </a:extLst>
          </p:cNvPr>
          <p:cNvSpPr txBox="1"/>
          <p:nvPr/>
        </p:nvSpPr>
        <p:spPr>
          <a:xfrm>
            <a:off x="1066800" y="2705100"/>
            <a:ext cx="1630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</a:rPr>
              <a:t>Object-Oriented Entity Structure: Designed dedicated Python classes (such as Event) to encapsulate attributes like name, trainer, location, price, duration, rating, available seats, and category.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Persistent JSON Data Stores: Utilized structured JSON files (</a:t>
            </a:r>
            <a:r>
              <a:rPr lang="en-US" sz="2400" dirty="0" err="1">
                <a:solidFill>
                  <a:schemeClr val="bg1"/>
                </a:solidFill>
              </a:rPr>
              <a:t>events.json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dirty="0" err="1">
                <a:solidFill>
                  <a:schemeClr val="bg1"/>
                </a:solidFill>
              </a:rPr>
              <a:t>users.json</a:t>
            </a:r>
            <a:r>
              <a:rPr lang="en-US" sz="2400" dirty="0">
                <a:solidFill>
                  <a:schemeClr val="bg1"/>
                </a:solidFill>
              </a:rPr>
              <a:t>) to store and retrieve application records permanently, ensuring data integrity across sessions.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Manager &amp; Controller Classes: Implemented dedicated logic containers like </a:t>
            </a:r>
            <a:r>
              <a:rPr lang="en-US" sz="2400" dirty="0" err="1">
                <a:solidFill>
                  <a:schemeClr val="bg1"/>
                </a:solidFill>
              </a:rPr>
              <a:t>EventManager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dirty="0" err="1">
                <a:solidFill>
                  <a:schemeClr val="bg1"/>
                </a:solidFill>
              </a:rPr>
              <a:t>LearningPlan</a:t>
            </a:r>
            <a:r>
              <a:rPr lang="en-US" sz="2400" dirty="0">
                <a:solidFill>
                  <a:schemeClr val="bg1"/>
                </a:solidFill>
              </a:rPr>
              <a:t> to handle lists of objects, manage business rules, and execute CRUD operations.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Role-Based User Schema: Structured user records with specific attributes (name, email, phone, age, gender, governorate, national ID, password, and role) to differentiate between standard users and administrators.</a:t>
            </a:r>
            <a:endParaRPr lang="ar-EG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 Navigation &amp; Sorting Models: Handled state and ordering dynamically through dedicated algorithmic structures like the </a:t>
            </a:r>
            <a:r>
              <a:rPr lang="en-US" sz="2400" dirty="0" err="1">
                <a:solidFill>
                  <a:schemeClr val="bg1"/>
                </a:solidFill>
              </a:rPr>
              <a:t>NavigationStack</a:t>
            </a:r>
            <a:r>
              <a:rPr lang="en-US" sz="2400" dirty="0">
                <a:solidFill>
                  <a:schemeClr val="bg1"/>
                </a:solidFill>
              </a:rPr>
              <a:t> history tracker and the </a:t>
            </a:r>
            <a:r>
              <a:rPr lang="en-US" sz="2400" dirty="0" err="1">
                <a:solidFill>
                  <a:schemeClr val="bg1"/>
                </a:solidFill>
              </a:rPr>
              <a:t>MergeSort</a:t>
            </a:r>
            <a:r>
              <a:rPr lang="en-US" sz="2400" dirty="0">
                <a:solidFill>
                  <a:schemeClr val="bg1"/>
                </a:solidFill>
              </a:rPr>
              <a:t> data sorter.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67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Results and Insights</a:t>
            </a:r>
          </a:p>
        </p:txBody>
      </p:sp>
      <p:sp>
        <p:nvSpPr>
          <p:cNvPr id="3" name="Content"/>
          <p:cNvSpPr/>
          <p:nvPr/>
        </p:nvSpPr>
        <p:spPr>
          <a:xfrm>
            <a:off x="1187450" y="419100"/>
            <a:ext cx="15887700" cy="76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Successful System Integration:</a:t>
            </a:r>
            <a:r>
              <a:rPr lang="en-US" sz="3200" dirty="0"/>
              <a:t> Delivered a fully functional CLI-based platform that seamlessly integrates user authentication, administrative controls, and personalized learning plans with persistent JSON storage.</a:t>
            </a:r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Algorithmic Efficiency:</a:t>
            </a:r>
            <a:r>
              <a:rPr lang="en-US" sz="3200" dirty="0"/>
              <a:t> Validated the practical application of manual data structures and algorithms—specifically utilizing Merge Sort for quick event organization and recursive logic for instant financial summaries.</a:t>
            </a:r>
            <a:endParaRPr lang="ar-EG" sz="3200" dirty="0"/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Enhanced User Experience:</a:t>
            </a:r>
            <a:r>
              <a:rPr lang="en-US" sz="3200" dirty="0"/>
              <a:t> Streamlined event discovery and navigation through category filtering, keyword searches, and dynamic seat management, providing a robust tool for educational planning.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Content"/>
          <p:cNvSpPr/>
          <p:nvPr/>
        </p:nvSpPr>
        <p:spPr>
          <a:xfrm>
            <a:off x="1187450" y="876300"/>
            <a:ext cx="15887700" cy="768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Successful Project Delivery:</a:t>
            </a:r>
            <a:r>
              <a:rPr lang="en-US" sz="3200" dirty="0"/>
              <a:t> The application successfully provides a comprehensive and reliable platform for workshop discovery and learning path planning, streamlining how users organize their educational journeys.</a:t>
            </a:r>
            <a:endParaRPr lang="ar-EG" sz="3200" dirty="0"/>
          </a:p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3200" b="1" dirty="0"/>
              <a:t>Practical Engineering Implementation:</a:t>
            </a:r>
            <a:r>
              <a:rPr lang="en-US" sz="3200" dirty="0"/>
              <a:t> The project successfully demonstrates the real-world value of Object-Oriented Programming (OOP) principles, manual sorting algorithms, and persistent data storage in building robust software.</a:t>
            </a:r>
            <a:endParaRPr lang="en-US" sz="3200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200150" y="700000"/>
            <a:ext cx="158877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5000" b="1" dirty="0">
                <a:solidFill>
                  <a:srgbClr val="193EB0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3" name="Content"/>
          <p:cNvSpPr/>
          <p:nvPr/>
        </p:nvSpPr>
        <p:spPr>
          <a:xfrm>
            <a:off x="1200150" y="1900000"/>
            <a:ext cx="15887700" cy="5119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457200" indent="-457200">
              <a:spcAft>
                <a:spcPts val="1600"/>
              </a:spcAft>
              <a:buClr>
                <a:srgbClr val="193EB0"/>
              </a:buClr>
              <a:buFont typeface="Arial"/>
              <a:buChar char="●"/>
            </a:pPr>
            <a:r>
              <a:rPr lang="en-US" sz="400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Thank you for listening — questions are welcome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1027</Words>
  <Application>Microsoft Office PowerPoint</Application>
  <PresentationFormat>Custom</PresentationFormat>
  <Paragraphs>151</Paragraphs>
  <Slides>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Aptos</vt:lpstr>
      <vt:lpstr>Calibri</vt:lpstr>
      <vt:lpstr>Malgun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</dc:title>
  <dc:creator>farah walid</dc:creator>
  <cp:lastModifiedBy>Ahmed Mahmoud</cp:lastModifiedBy>
  <cp:revision>294</cp:revision>
  <dcterms:created xsi:type="dcterms:W3CDTF">2006-08-16T00:00:00Z</dcterms:created>
  <dcterms:modified xsi:type="dcterms:W3CDTF">2026-09-25T18:00:09Z</dcterms:modified>
  <dc:identifier>DAGQ85K8Zw8</dc:identifier>
</cp:coreProperties>
</file>